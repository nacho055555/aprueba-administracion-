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12192000"/>
  <p:embeddedFontLst>
    <p:embeddedFont>
      <p:font typeface="Play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9" roundtripDataSignature="AMtx7mhQnGf2nrd/lubaTA42CIB7f0ju1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ay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font" Target="fonts/Play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5" name="Google Shape;24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" name="Google Shape;29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2" name="Google Shape;32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8" name="Google Shape;38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7" name="Google Shape;43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STER">
  <p:cSld name="MASTER">
    <p:bg>
      <p:bgPr>
        <a:solidFill>
          <a:srgbClr val="F7F9FC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15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4E78"/>
          </a:solidFill>
          <a:ln cap="flat" cmpd="sng" w="12700">
            <a:solidFill>
              <a:srgbClr val="1F4E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5"/>
          <p:cNvSpPr/>
          <p:nvPr/>
        </p:nvSpPr>
        <p:spPr>
          <a:xfrm>
            <a:off x="502920" y="18288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8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1F4E78"/>
                </a:solidFill>
                <a:latin typeface="Arial"/>
                <a:ea typeface="Arial"/>
                <a:cs typeface="Arial"/>
                <a:sym typeface="Arial"/>
              </a:rPr>
              <a:t>APRUEBA · ADMINISTRACIÓN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15;p15"/>
          <p:cNvSpPr/>
          <p:nvPr/>
        </p:nvSpPr>
        <p:spPr>
          <a:xfrm>
            <a:off x="8778240" y="18288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Capstone · Enfoque Frontend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" name="Google Shape;16;p15"/>
          <p:cNvCxnSpPr/>
          <p:nvPr/>
        </p:nvCxnSpPr>
        <p:spPr>
          <a:xfrm>
            <a:off x="502920" y="6473952"/>
            <a:ext cx="11155680" cy="0"/>
          </a:xfrm>
          <a:prstGeom prst="straightConnector1">
            <a:avLst/>
          </a:prstGeom>
          <a:noFill/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" name="Google Shape;17;p15"/>
          <p:cNvSpPr txBox="1"/>
          <p:nvPr>
            <p:ph idx="12" type="sldNum"/>
          </p:nvPr>
        </p:nvSpPr>
        <p:spPr>
          <a:xfrm>
            <a:off x="11384280" y="651052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11384280" y="651052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l">
              <a:spcBef>
                <a:spcPts val="0"/>
              </a:spcBef>
              <a:buNone/>
              <a:defRPr b="0" i="0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1F4E78"/>
          </a:solidFill>
          <a:ln cap="flat" cmpd="sng" w="12700">
            <a:solidFill>
              <a:srgbClr val="1F4E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3931920" y="-274320"/>
            <a:ext cx="1828800" cy="1828800"/>
          </a:xfrm>
          <a:prstGeom prst="arc">
            <a:avLst>
              <a:gd fmla="val 16200000" name="adj1"/>
              <a:gd fmla="val 0" name="adj2"/>
            </a:avLst>
          </a:prstGeom>
          <a:solidFill>
            <a:srgbClr val="F2B134">
              <a:alpha val="94902"/>
            </a:srgbClr>
          </a:solidFill>
          <a:ln cap="flat" cmpd="sng" w="12700">
            <a:solidFill>
              <a:srgbClr val="F2B134">
                <a:alpha val="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594360" y="640080"/>
            <a:ext cx="32918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Arial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APRUEBA</a:t>
            </a:r>
            <a:endParaRPr b="0" i="0" sz="2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594360" y="1097280"/>
            <a:ext cx="33832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FE2F3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CFE2F3"/>
                </a:solidFill>
                <a:latin typeface="Arial"/>
                <a:ea typeface="Arial"/>
                <a:cs typeface="Arial"/>
                <a:sym typeface="Arial"/>
              </a:rPr>
              <a:t>ADMINISTRACIÓN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94360" y="2148840"/>
            <a:ext cx="356616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Play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Play"/>
                <a:ea typeface="Play"/>
                <a:cs typeface="Play"/>
                <a:sym typeface="Play"/>
              </a:rPr>
              <a:t>Kick Off del Proyecto Capstone</a:t>
            </a:r>
            <a:endParaRPr b="0" i="0" sz="3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594360" y="338328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AF7"/>
              </a:buClr>
              <a:buSzPts val="1500"/>
              <a:buFont typeface="Arial"/>
              <a:buNone/>
            </a:pPr>
            <a:r>
              <a:rPr b="0" i="0" lang="en-US" sz="1500" u="none" cap="none" strike="noStrike">
                <a:solidFill>
                  <a:srgbClr val="D9EAF7"/>
                </a:solidFill>
                <a:latin typeface="Arial"/>
                <a:ea typeface="Arial"/>
                <a:cs typeface="Arial"/>
                <a:sym typeface="Arial"/>
              </a:rPr>
              <a:t>Enfoque Frontend · SPA administrativa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594360" y="580644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9EAF7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D9EAF7"/>
                </a:solidFill>
                <a:latin typeface="Arial"/>
                <a:ea typeface="Arial"/>
                <a:cs typeface="Arial"/>
                <a:sym typeface="Arial"/>
              </a:rPr>
              <a:t>Fernando Casanueva  ·  Ignacio Catalán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594360" y="6144768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8D1E5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B8D1E5"/>
                </a:solidFill>
                <a:latin typeface="Arial"/>
                <a:ea typeface="Arial"/>
                <a:cs typeface="Arial"/>
                <a:sym typeface="Arial"/>
              </a:rPr>
              <a:t>Ingeniería en Informática · Duoc UC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5257800" y="86868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2700"/>
              <a:buFont typeface="Arial"/>
              <a:buNone/>
            </a:pPr>
            <a:r>
              <a:rPr b="1" i="0" lang="en-US" sz="27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Punto de partida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5257800" y="1417320"/>
            <a:ext cx="60350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700"/>
              <a:buFont typeface="Arial"/>
              <a:buNone/>
            </a:pPr>
            <a:r>
              <a:rPr b="0" i="0" lang="en-US" sz="170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Una consola web para operar, medir y gestionar Aprueba sin depender de desarrollo adicional para cada ajuste del negocio.</a:t>
            </a:r>
            <a:endParaRPr b="0" i="0" sz="1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5257800" y="2788920"/>
            <a:ext cx="182880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1"/>
          <p:cNvSpPr/>
          <p:nvPr/>
        </p:nvSpPr>
        <p:spPr>
          <a:xfrm>
            <a:off x="5276088" y="2807208"/>
            <a:ext cx="64008" cy="1380744"/>
          </a:xfrm>
          <a:prstGeom prst="rect">
            <a:avLst/>
          </a:prstGeom>
          <a:solidFill>
            <a:srgbClr val="2F75B5"/>
          </a:solidFill>
          <a:ln cap="flat" cmpd="sng" w="12700">
            <a:solidFill>
              <a:srgbClr val="2F75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1"/>
          <p:cNvSpPr/>
          <p:nvPr/>
        </p:nvSpPr>
        <p:spPr>
          <a:xfrm>
            <a:off x="5458968" y="2953512"/>
            <a:ext cx="14813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8 módulos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5458968" y="3296411"/>
            <a:ext cx="1481400" cy="7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Resumen, Comercial, Sponsors, Operativa, Usuarios y soporte, Tutores, Contenido, Planes y productos.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7315200" y="2788920"/>
            <a:ext cx="182880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1"/>
          <p:cNvSpPr/>
          <p:nvPr/>
        </p:nvSpPr>
        <p:spPr>
          <a:xfrm>
            <a:off x="7333488" y="2807208"/>
            <a:ext cx="64008" cy="1380744"/>
          </a:xfrm>
          <a:prstGeom prst="rect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1"/>
          <p:cNvSpPr/>
          <p:nvPr/>
        </p:nvSpPr>
        <p:spPr>
          <a:xfrm>
            <a:off x="7516368" y="2953512"/>
            <a:ext cx="14813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18 semanas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p1"/>
          <p:cNvSpPr/>
          <p:nvPr/>
        </p:nvSpPr>
        <p:spPr>
          <a:xfrm>
            <a:off x="7516368" y="3355848"/>
            <a:ext cx="1481328" cy="72237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Plan académico en tres fases, con desarrollo incremental y estabilización final.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1"/>
          <p:cNvSpPr/>
          <p:nvPr/>
        </p:nvSpPr>
        <p:spPr>
          <a:xfrm>
            <a:off x="9372600" y="2788920"/>
            <a:ext cx="1828800" cy="1417320"/>
          </a:xfrm>
          <a:prstGeom prst="roundRect">
            <a:avLst>
              <a:gd fmla="val 5161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1"/>
          <p:cNvSpPr/>
          <p:nvPr/>
        </p:nvSpPr>
        <p:spPr>
          <a:xfrm>
            <a:off x="9390888" y="2807208"/>
            <a:ext cx="64008" cy="1380744"/>
          </a:xfrm>
          <a:prstGeom prst="rect">
            <a:avLst/>
          </a:prstGeom>
          <a:solidFill>
            <a:srgbClr val="2E8B57"/>
          </a:solidFill>
          <a:ln cap="flat" cmpd="sng" w="12700">
            <a:solidFill>
              <a:srgbClr val="2E8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"/>
          <p:cNvSpPr/>
          <p:nvPr/>
        </p:nvSpPr>
        <p:spPr>
          <a:xfrm>
            <a:off x="9573768" y="2953512"/>
            <a:ext cx="148132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React 18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" name="Google Shape;44;p1"/>
          <p:cNvSpPr/>
          <p:nvPr/>
        </p:nvSpPr>
        <p:spPr>
          <a:xfrm>
            <a:off x="9573768" y="3355848"/>
            <a:ext cx="1481328" cy="72237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Vite, React Router, i18n, dashboards, pruebas y consumo de API REST.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1"/>
          <p:cNvSpPr/>
          <p:nvPr/>
        </p:nvSpPr>
        <p:spPr>
          <a:xfrm>
            <a:off x="5257800" y="4892040"/>
            <a:ext cx="6035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4E78"/>
                </a:solidFill>
                <a:latin typeface="Arial"/>
                <a:ea typeface="Arial"/>
                <a:cs typeface="Arial"/>
                <a:sym typeface="Arial"/>
              </a:rPr>
              <a:t>alinear alcance, roles, método, tiempos, riesgos y criterios de éxito antes de comenzar a construir.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"/>
          <p:cNvSpPr/>
          <p:nvPr/>
        </p:nvSpPr>
        <p:spPr>
          <a:xfrm>
            <a:off x="566928" y="594360"/>
            <a:ext cx="10972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7324D"/>
                </a:solidFill>
                <a:latin typeface="Play"/>
                <a:ea typeface="Play"/>
                <a:cs typeface="Play"/>
                <a:sym typeface="Play"/>
              </a:rPr>
              <a:t>¿De qué se trata el proyecto?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585216" y="1069848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Aprueba Administración es la consola operativa del producto, no la aplicación del estudiante.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640080" y="1600200"/>
            <a:ext cx="3337560" cy="2057400"/>
          </a:xfrm>
          <a:prstGeom prst="roundRect">
            <a:avLst>
              <a:gd fmla="val 3556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D0D7DE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658368" y="1618488"/>
            <a:ext cx="64008" cy="2020824"/>
          </a:xfrm>
          <a:prstGeom prst="rect">
            <a:avLst/>
          </a:prstGeom>
          <a:solidFill>
            <a:srgbClr val="C94C4C"/>
          </a:solidFill>
          <a:ln cap="flat" cmpd="sng" w="12700">
            <a:solidFill>
              <a:srgbClr val="C9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841248" y="1764792"/>
            <a:ext cx="29900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Problema que resuelve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841248" y="2167128"/>
            <a:ext cx="2990088" cy="136245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Sin una consola administrativa centralizada, el equipo de negocio no puede monitorear conversión e ingresos, gestionar sponsors, moderar contenido, administrar usuarios ni operar parámetros del producto de forma eficiente.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2"/>
          <p:cNvSpPr/>
          <p:nvPr/>
        </p:nvSpPr>
        <p:spPr>
          <a:xfrm>
            <a:off x="4187952" y="1600200"/>
            <a:ext cx="3337560" cy="2057400"/>
          </a:xfrm>
          <a:prstGeom prst="roundRect">
            <a:avLst>
              <a:gd fmla="val 3556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D0D7DE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2"/>
          <p:cNvSpPr/>
          <p:nvPr/>
        </p:nvSpPr>
        <p:spPr>
          <a:xfrm>
            <a:off x="4206240" y="1618488"/>
            <a:ext cx="64008" cy="2020824"/>
          </a:xfrm>
          <a:prstGeom prst="rect">
            <a:avLst/>
          </a:prstGeom>
          <a:solidFill>
            <a:srgbClr val="2F75B5"/>
          </a:solidFill>
          <a:ln cap="flat" cmpd="sng" w="12700">
            <a:solidFill>
              <a:srgbClr val="2F75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4389120" y="1764792"/>
            <a:ext cx="29900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Solución propuesta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4389120" y="2167128"/>
            <a:ext cx="2990088" cy="136245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Desarrollar una SPA web administrativa, modular y responsiva, integrada con la API REST del Backend y adaptada a permisos por rol para concentrar las operaciones del producto en una sola interfaz.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" name="Google Shape;61;p2"/>
          <p:cNvSpPr/>
          <p:nvPr/>
        </p:nvSpPr>
        <p:spPr>
          <a:xfrm>
            <a:off x="7735824" y="1600200"/>
            <a:ext cx="3337560" cy="2057400"/>
          </a:xfrm>
          <a:prstGeom prst="roundRect">
            <a:avLst>
              <a:gd fmla="val 3556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D0D7DE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2"/>
          <p:cNvSpPr/>
          <p:nvPr/>
        </p:nvSpPr>
        <p:spPr>
          <a:xfrm>
            <a:off x="7754112" y="1618488"/>
            <a:ext cx="64008" cy="2020824"/>
          </a:xfrm>
          <a:prstGeom prst="rect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2"/>
          <p:cNvSpPr/>
          <p:nvPr/>
        </p:nvSpPr>
        <p:spPr>
          <a:xfrm>
            <a:off x="7936992" y="1764792"/>
            <a:ext cx="299008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Contexto de negocio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2"/>
          <p:cNvSpPr/>
          <p:nvPr/>
        </p:nvSpPr>
        <p:spPr>
          <a:xfrm>
            <a:off x="7936992" y="2167128"/>
            <a:ext cx="2990088" cy="136245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Mercado inicial: Chile y PAES. El modelo freemium usa flujo diario de preguntas, desbloqueo progresivo y planes de bajo costo. La consola permite medir y operar esa economía.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2"/>
          <p:cNvSpPr/>
          <p:nvPr/>
        </p:nvSpPr>
        <p:spPr>
          <a:xfrm>
            <a:off x="640080" y="4069080"/>
            <a:ext cx="10433304" cy="1490472"/>
          </a:xfrm>
          <a:prstGeom prst="roundRect">
            <a:avLst>
              <a:gd fmla="val 4908" name="adj"/>
            </a:avLst>
          </a:prstGeom>
          <a:solidFill>
            <a:srgbClr val="EEF4FA"/>
          </a:solidFill>
          <a:ln cap="flat" cmpd="sng" w="12700">
            <a:solidFill>
              <a:srgbClr val="C7D9E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2"/>
          <p:cNvSpPr/>
          <p:nvPr/>
        </p:nvSpPr>
        <p:spPr>
          <a:xfrm>
            <a:off x="868680" y="4343400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8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F4E78"/>
                </a:solidFill>
                <a:latin typeface="Arial"/>
                <a:ea typeface="Arial"/>
                <a:cs typeface="Arial"/>
                <a:sym typeface="Arial"/>
              </a:rPr>
              <a:t>Impacto esperado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2"/>
          <p:cNvSpPr/>
          <p:nvPr/>
        </p:nvSpPr>
        <p:spPr>
          <a:xfrm>
            <a:off x="2880360" y="4352544"/>
            <a:ext cx="73152" cy="73152"/>
          </a:xfrm>
          <a:prstGeom prst="ellipse">
            <a:avLst/>
          </a:prstGeom>
          <a:solidFill>
            <a:srgbClr val="2F75B5"/>
          </a:solidFill>
          <a:ln cap="flat" cmpd="sng" w="12700">
            <a:solidFill>
              <a:srgbClr val="2F75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2"/>
          <p:cNvSpPr/>
          <p:nvPr/>
        </p:nvSpPr>
        <p:spPr>
          <a:xfrm>
            <a:off x="3035808" y="4279392"/>
            <a:ext cx="226771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Visibilidad de KPIs y salud del sistema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"/>
          <p:cNvSpPr/>
          <p:nvPr/>
        </p:nvSpPr>
        <p:spPr>
          <a:xfrm>
            <a:off x="5440680" y="4352544"/>
            <a:ext cx="73152" cy="73152"/>
          </a:xfrm>
          <a:prstGeom prst="ellipse">
            <a:avLst/>
          </a:prstGeom>
          <a:solidFill>
            <a:srgbClr val="2E8B57"/>
          </a:solidFill>
          <a:ln cap="flat" cmpd="sng" w="12700">
            <a:solidFill>
              <a:srgbClr val="2E8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"/>
          <p:cNvSpPr/>
          <p:nvPr/>
        </p:nvSpPr>
        <p:spPr>
          <a:xfrm>
            <a:off x="5596128" y="4279392"/>
            <a:ext cx="245059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Gestión de usuarios, contenido y sponsors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2"/>
          <p:cNvSpPr/>
          <p:nvPr/>
        </p:nvSpPr>
        <p:spPr>
          <a:xfrm>
            <a:off x="8183880" y="4352544"/>
            <a:ext cx="73152" cy="7315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2"/>
          <p:cNvSpPr/>
          <p:nvPr/>
        </p:nvSpPr>
        <p:spPr>
          <a:xfrm>
            <a:off x="8339328" y="4279392"/>
            <a:ext cx="23134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Ajustes de planes y operación sin tocar el Frontend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2"/>
          <p:cNvSpPr/>
          <p:nvPr/>
        </p:nvSpPr>
        <p:spPr>
          <a:xfrm>
            <a:off x="868680" y="4910328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308.000+ inscritos PAES 2025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2"/>
          <p:cNvSpPr/>
          <p:nvPr/>
        </p:nvSpPr>
        <p:spPr>
          <a:xfrm>
            <a:off x="2880360" y="4882896"/>
            <a:ext cx="77266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El impacto directo es sobre los equipos internos; el impacto en estudiantes es indirecto al mejorar la operación del servicio.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2"/>
          <p:cNvSpPr txBox="1"/>
          <p:nvPr>
            <p:ph idx="4294967295" type="sldNum"/>
          </p:nvPr>
        </p:nvSpPr>
        <p:spPr>
          <a:xfrm>
            <a:off x="11384280" y="651052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B879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3"/>
          <p:cNvSpPr/>
          <p:nvPr/>
        </p:nvSpPr>
        <p:spPr>
          <a:xfrm>
            <a:off x="566928" y="594360"/>
            <a:ext cx="10972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7324D"/>
                </a:solidFill>
                <a:latin typeface="Play"/>
                <a:ea typeface="Play"/>
                <a:cs typeface="Play"/>
                <a:sym typeface="Play"/>
              </a:rPr>
              <a:t>Objetivo y resultado esperado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585216" y="1069848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La meta no es “hacer pantallas”: es entregar una herramienta administrativa usable, integrada y verificable.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731520" y="1572768"/>
            <a:ext cx="10698480" cy="1143000"/>
          </a:xfrm>
          <a:prstGeom prst="roundRect">
            <a:avLst>
              <a:gd fmla="val 6400" name="adj"/>
            </a:avLst>
          </a:prstGeom>
          <a:solidFill>
            <a:srgbClr val="1F4E78"/>
          </a:solidFill>
          <a:ln cap="flat" cmpd="sng" w="12700">
            <a:solidFill>
              <a:srgbClr val="1F4E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1005840" y="1828800"/>
            <a:ext cx="101498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Desarrollar una SPA para la consola de administración de Aprueba que permita visualizar métricas y gestionar funciones administrativas habilitadas por rol, mediante integración con la API REST del Backend.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731520" y="3063240"/>
            <a:ext cx="3337560" cy="1078992"/>
          </a:xfrm>
          <a:prstGeom prst="roundRect">
            <a:avLst>
              <a:gd fmla="val 5085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896112" y="3227832"/>
            <a:ext cx="292608" cy="292608"/>
          </a:xfrm>
          <a:prstGeom prst="ellipse">
            <a:avLst/>
          </a:prstGeom>
          <a:solidFill>
            <a:srgbClr val="2F75B5"/>
          </a:solidFill>
          <a:ln cap="flat" cmpd="sng" w="12700">
            <a:solidFill>
              <a:srgbClr val="2F75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"/>
          <p:cNvSpPr/>
          <p:nvPr/>
        </p:nvSpPr>
        <p:spPr>
          <a:xfrm>
            <a:off x="1298448" y="3200400"/>
            <a:ext cx="264261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Experiencia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896112" y="3630168"/>
            <a:ext cx="300837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8 módulos funcionales, diseño responsivo, i18n es/en y tema claro/oscuro.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4389120" y="3063240"/>
            <a:ext cx="3337560" cy="1078992"/>
          </a:xfrm>
          <a:prstGeom prst="roundRect">
            <a:avLst>
              <a:gd fmla="val 5085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4553712" y="3227832"/>
            <a:ext cx="292608" cy="292608"/>
          </a:xfrm>
          <a:prstGeom prst="ellipse">
            <a:avLst/>
          </a:prstGeom>
          <a:solidFill>
            <a:srgbClr val="2E8B57"/>
          </a:solidFill>
          <a:ln cap="flat" cmpd="sng" w="12700">
            <a:solidFill>
              <a:srgbClr val="2E8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4956048" y="3200400"/>
            <a:ext cx="264261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Integración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4553712" y="3630168"/>
            <a:ext cx="300837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Consumo asíncrono de endpoints /admin, manejo de errores y contratos JSON.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8046720" y="3063240"/>
            <a:ext cx="3337560" cy="1078992"/>
          </a:xfrm>
          <a:prstGeom prst="roundRect">
            <a:avLst>
              <a:gd fmla="val 5085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3"/>
          <p:cNvSpPr/>
          <p:nvPr/>
        </p:nvSpPr>
        <p:spPr>
          <a:xfrm>
            <a:off x="8211312" y="3227832"/>
            <a:ext cx="292608" cy="292608"/>
          </a:xfrm>
          <a:prstGeom prst="ellipse">
            <a:avLst/>
          </a:prstGeom>
          <a:solidFill>
            <a:srgbClr val="6C63A8"/>
          </a:solidFill>
          <a:ln cap="flat" cmpd="sng" w="12700">
            <a:solidFill>
              <a:srgbClr val="6C63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8613648" y="3200400"/>
            <a:ext cx="264261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Seguridad cliente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8211312" y="3630168"/>
            <a:ext cx="300837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Flujo de login + MFA, sesión, navegación protegida y representación de permisos RBAC.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731520" y="4389120"/>
            <a:ext cx="3337560" cy="1078992"/>
          </a:xfrm>
          <a:prstGeom prst="roundRect">
            <a:avLst>
              <a:gd fmla="val 5085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"/>
          <p:cNvSpPr/>
          <p:nvPr/>
        </p:nvSpPr>
        <p:spPr>
          <a:xfrm>
            <a:off x="896112" y="4553712"/>
            <a:ext cx="292608" cy="292608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1298448" y="4526280"/>
            <a:ext cx="264261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896112" y="4956048"/>
            <a:ext cx="300837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Dashboards de MRR, MAU, conversión y exportación autorizada a CSV.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4389120" y="4389120"/>
            <a:ext cx="3337560" cy="1078992"/>
          </a:xfrm>
          <a:prstGeom prst="roundRect">
            <a:avLst>
              <a:gd fmla="val 5085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3"/>
          <p:cNvSpPr/>
          <p:nvPr/>
        </p:nvSpPr>
        <p:spPr>
          <a:xfrm>
            <a:off x="4553712" y="4553712"/>
            <a:ext cx="292608" cy="292608"/>
          </a:xfrm>
          <a:prstGeom prst="ellipse">
            <a:avLst/>
          </a:prstGeom>
          <a:solidFill>
            <a:srgbClr val="C94C4C"/>
          </a:solidFill>
          <a:ln cap="flat" cmpd="sng" w="12700">
            <a:solidFill>
              <a:srgbClr val="C9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4956048" y="4526280"/>
            <a:ext cx="264261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Calidad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4553712" y="4956048"/>
            <a:ext cx="300837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Pruebas funcionales, integración/E2E, validación y auditoría Lighthouse.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8046720" y="4389120"/>
            <a:ext cx="3337560" cy="1078992"/>
          </a:xfrm>
          <a:prstGeom prst="roundRect">
            <a:avLst>
              <a:gd fmla="val 5085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3"/>
          <p:cNvSpPr/>
          <p:nvPr/>
        </p:nvSpPr>
        <p:spPr>
          <a:xfrm>
            <a:off x="8211312" y="4553712"/>
            <a:ext cx="292608" cy="292608"/>
          </a:xfrm>
          <a:prstGeom prst="ellipse">
            <a:avLst/>
          </a:prstGeom>
          <a:solidFill>
            <a:srgbClr val="5BC0EB"/>
          </a:solidFill>
          <a:ln cap="flat" cmpd="sng" w="12700">
            <a:solidFill>
              <a:srgbClr val="5BC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"/>
          <p:cNvSpPr/>
          <p:nvPr/>
        </p:nvSpPr>
        <p:spPr>
          <a:xfrm>
            <a:off x="8613648" y="4526280"/>
            <a:ext cx="264261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Operabilidad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3"/>
          <p:cNvSpPr/>
          <p:nvPr/>
        </p:nvSpPr>
        <p:spPr>
          <a:xfrm>
            <a:off x="8211312" y="4956048"/>
            <a:ext cx="300837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Interfaces para contenido, usuarios, sponsors, infraestructura y planes/productos.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3"/>
          <p:cNvSpPr txBox="1"/>
          <p:nvPr>
            <p:ph idx="4294967295" type="sldNum"/>
          </p:nvPr>
        </p:nvSpPr>
        <p:spPr>
          <a:xfrm>
            <a:off x="11384280" y="651052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B879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"/>
          <p:cNvSpPr/>
          <p:nvPr/>
        </p:nvSpPr>
        <p:spPr>
          <a:xfrm>
            <a:off x="566928" y="594360"/>
            <a:ext cx="10972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7324D"/>
                </a:solidFill>
                <a:latin typeface="Play"/>
                <a:ea typeface="Play"/>
                <a:cs typeface="Play"/>
                <a:sym typeface="Play"/>
              </a:rPr>
              <a:t>Alcance del Frontend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585216" y="1069848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Ocho vistas principales, con responsabilidades claramente separadas del Backend.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66928" y="1536192"/>
            <a:ext cx="2651760" cy="1298448"/>
          </a:xfrm>
          <a:prstGeom prst="roundRect">
            <a:avLst>
              <a:gd fmla="val 4225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731520" y="1700784"/>
            <a:ext cx="292608" cy="292608"/>
          </a:xfrm>
          <a:prstGeom prst="ellipse">
            <a:avLst/>
          </a:prstGeom>
          <a:solidFill>
            <a:srgbClr val="2F75B5"/>
          </a:solidFill>
          <a:ln cap="flat" cmpd="sng" w="12700">
            <a:solidFill>
              <a:srgbClr val="2F75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1133856" y="1673352"/>
            <a:ext cx="195681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Resumen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731520" y="2103120"/>
            <a:ext cx="232257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KPIs, salud general y acceso rápido.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3419856" y="1536192"/>
            <a:ext cx="2651760" cy="1298448"/>
          </a:xfrm>
          <a:prstGeom prst="roundRect">
            <a:avLst>
              <a:gd fmla="val 4225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"/>
          <p:cNvSpPr/>
          <p:nvPr/>
        </p:nvSpPr>
        <p:spPr>
          <a:xfrm>
            <a:off x="3584448" y="1700784"/>
            <a:ext cx="292608" cy="292608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3986784" y="1673352"/>
            <a:ext cx="195681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Comercial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4"/>
          <p:cNvSpPr/>
          <p:nvPr/>
        </p:nvSpPr>
        <p:spPr>
          <a:xfrm>
            <a:off x="3584448" y="2103120"/>
            <a:ext cx="232257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Embudo, ingresos, planes y CSV.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6272784" y="1536192"/>
            <a:ext cx="2651760" cy="1298448"/>
          </a:xfrm>
          <a:prstGeom prst="roundRect">
            <a:avLst>
              <a:gd fmla="val 4225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6437376" y="1700784"/>
            <a:ext cx="292608" cy="292608"/>
          </a:xfrm>
          <a:prstGeom prst="ellipse">
            <a:avLst/>
          </a:prstGeom>
          <a:solidFill>
            <a:srgbClr val="2E8B57"/>
          </a:solidFill>
          <a:ln cap="flat" cmpd="sng" w="12700">
            <a:solidFill>
              <a:srgbClr val="2E8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6839712" y="1673352"/>
            <a:ext cx="195681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Sponsors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6437376" y="2103120"/>
            <a:ext cx="232257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Gestión de auspiciadores y beneficios.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9125712" y="1536192"/>
            <a:ext cx="2651760" cy="1298448"/>
          </a:xfrm>
          <a:prstGeom prst="roundRect">
            <a:avLst>
              <a:gd fmla="val 4225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9290304" y="1700784"/>
            <a:ext cx="292608" cy="292608"/>
          </a:xfrm>
          <a:prstGeom prst="ellipse">
            <a:avLst/>
          </a:prstGeom>
          <a:solidFill>
            <a:srgbClr val="C94C4C"/>
          </a:solidFill>
          <a:ln cap="flat" cmpd="sng" w="12700">
            <a:solidFill>
              <a:srgbClr val="C9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9692640" y="1673352"/>
            <a:ext cx="195681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Operativa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4"/>
          <p:cNvSpPr/>
          <p:nvPr/>
        </p:nvSpPr>
        <p:spPr>
          <a:xfrm>
            <a:off x="9290304" y="2103120"/>
            <a:ext cx="232257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Estado de servicios/contenedores y acciones auditadas.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566928" y="3090672"/>
            <a:ext cx="2651760" cy="1298448"/>
          </a:xfrm>
          <a:prstGeom prst="roundRect">
            <a:avLst>
              <a:gd fmla="val 4225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"/>
          <p:cNvSpPr/>
          <p:nvPr/>
        </p:nvSpPr>
        <p:spPr>
          <a:xfrm>
            <a:off x="731520" y="3255264"/>
            <a:ext cx="292608" cy="292608"/>
          </a:xfrm>
          <a:prstGeom prst="ellipse">
            <a:avLst/>
          </a:prstGeom>
          <a:solidFill>
            <a:srgbClr val="6C63A8"/>
          </a:solidFill>
          <a:ln cap="flat" cmpd="sng" w="12700">
            <a:solidFill>
              <a:srgbClr val="6C63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1133856" y="3227832"/>
            <a:ext cx="195681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Usuarios y soporte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731520" y="3657600"/>
            <a:ext cx="232257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Búsqueda, acciones administrativas, tickets y recorrección.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3419856" y="3090672"/>
            <a:ext cx="2651760" cy="1298448"/>
          </a:xfrm>
          <a:prstGeom prst="roundRect">
            <a:avLst>
              <a:gd fmla="val 4225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3584448" y="3255264"/>
            <a:ext cx="292608" cy="292608"/>
          </a:xfrm>
          <a:prstGeom prst="ellipse">
            <a:avLst/>
          </a:prstGeom>
          <a:solidFill>
            <a:srgbClr val="5BC0EB"/>
          </a:solidFill>
          <a:ln cap="flat" cmpd="sng" w="12700">
            <a:solidFill>
              <a:srgbClr val="5BC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4"/>
          <p:cNvSpPr/>
          <p:nvPr/>
        </p:nvSpPr>
        <p:spPr>
          <a:xfrm>
            <a:off x="3986784" y="3227832"/>
            <a:ext cx="195681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Tutores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3584448" y="3657600"/>
            <a:ext cx="232257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Gestión visual del cuerpo tutor/docente.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6272784" y="3090672"/>
            <a:ext cx="2651760" cy="1298448"/>
          </a:xfrm>
          <a:prstGeom prst="roundRect">
            <a:avLst>
              <a:gd fmla="val 4225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6437376" y="3255264"/>
            <a:ext cx="292608" cy="292608"/>
          </a:xfrm>
          <a:prstGeom prst="ellipse">
            <a:avLst/>
          </a:prstGeom>
          <a:solidFill>
            <a:srgbClr val="2F75B5"/>
          </a:solidFill>
          <a:ln cap="flat" cmpd="sng" w="12700">
            <a:solidFill>
              <a:srgbClr val="2F75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6839712" y="3227832"/>
            <a:ext cx="195681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Contenido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6437376" y="3657600"/>
            <a:ext cx="232257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Banco de preguntas e importación masiva JSON.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9125712" y="3090672"/>
            <a:ext cx="2651760" cy="1298448"/>
          </a:xfrm>
          <a:prstGeom prst="roundRect">
            <a:avLst>
              <a:gd fmla="val 4225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9290304" y="3255264"/>
            <a:ext cx="292608" cy="292608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9692640" y="3227832"/>
            <a:ext cx="1956816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Planes y productos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4"/>
          <p:cNvSpPr/>
          <p:nvPr/>
        </p:nvSpPr>
        <p:spPr>
          <a:xfrm>
            <a:off x="9290304" y="3657600"/>
            <a:ext cx="2322576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Constructor drag &amp; drop, límites y sincronización vía Backend.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4"/>
          <p:cNvSpPr/>
          <p:nvPr/>
        </p:nvSpPr>
        <p:spPr>
          <a:xfrm>
            <a:off x="640080" y="4846320"/>
            <a:ext cx="5074920" cy="1005840"/>
          </a:xfrm>
          <a:prstGeom prst="roundRect">
            <a:avLst>
              <a:gd fmla="val 5455" name="adj"/>
            </a:avLst>
          </a:prstGeom>
          <a:solidFill>
            <a:srgbClr val="EAF5EF"/>
          </a:solidFill>
          <a:ln cap="flat" cmpd="sng" w="12700">
            <a:solidFill>
              <a:srgbClr val="B7D7C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868680" y="5047488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8B57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E8B57"/>
                </a:solidFill>
                <a:latin typeface="Arial"/>
                <a:ea typeface="Arial"/>
                <a:cs typeface="Arial"/>
                <a:sym typeface="Arial"/>
              </a:rPr>
              <a:t>Incluye el equipo Frontend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4"/>
          <p:cNvSpPr/>
          <p:nvPr/>
        </p:nvSpPr>
        <p:spPr>
          <a:xfrm>
            <a:off x="868680" y="5358384"/>
            <a:ext cx="4526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UI/UX, componentes, navegación, integración con API, estado cliente, validaciones, i18n, tema, gráficos, pruebas y despliegue de la SPA.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4"/>
          <p:cNvSpPr/>
          <p:nvPr/>
        </p:nvSpPr>
        <p:spPr>
          <a:xfrm>
            <a:off x="5897880" y="4846320"/>
            <a:ext cx="5074920" cy="1005840"/>
          </a:xfrm>
          <a:prstGeom prst="roundRect">
            <a:avLst>
              <a:gd fmla="val 5455" name="adj"/>
            </a:avLst>
          </a:prstGeom>
          <a:solidFill>
            <a:srgbClr val="FAEEEE"/>
          </a:solidFill>
          <a:ln cap="flat" cmpd="sng" w="12700">
            <a:solidFill>
              <a:srgbClr val="E6C2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6126480" y="5047488"/>
            <a:ext cx="2286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4C4C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C94C4C"/>
                </a:solidFill>
                <a:latin typeface="Arial"/>
                <a:ea typeface="Arial"/>
                <a:cs typeface="Arial"/>
                <a:sym typeface="Arial"/>
              </a:rPr>
              <a:t>Dependencias / fuera de alcance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4"/>
          <p:cNvSpPr/>
          <p:nvPr/>
        </p:nvSpPr>
        <p:spPr>
          <a:xfrm>
            <a:off x="6126480" y="5358384"/>
            <a:ext cx="45262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Autorización real, reglas de negocio, Firestore, control de contenedores, auditoría y sincronización sensible con Stripe pertenecen al Backend.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4"/>
          <p:cNvSpPr txBox="1"/>
          <p:nvPr>
            <p:ph idx="4294967295" type="sldNum"/>
          </p:nvPr>
        </p:nvSpPr>
        <p:spPr>
          <a:xfrm>
            <a:off x="11384280" y="651052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B879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5"/>
          <p:cNvSpPr/>
          <p:nvPr/>
        </p:nvSpPr>
        <p:spPr>
          <a:xfrm>
            <a:off x="566928" y="594360"/>
            <a:ext cx="10972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7324D"/>
                </a:solidFill>
                <a:latin typeface="Play"/>
                <a:ea typeface="Play"/>
                <a:cs typeface="Play"/>
                <a:sym typeface="Play"/>
              </a:rPr>
              <a:t>Usuarios administrativos y control de acceso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585216" y="1069848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La interfaz cambia según el rol, pero la autorización efectiva siempre debe validarse en servidor.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731520" y="1554480"/>
            <a:ext cx="3931920" cy="713232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914400" y="1719072"/>
            <a:ext cx="347472" cy="347472"/>
          </a:xfrm>
          <a:prstGeom prst="ellipse">
            <a:avLst/>
          </a:prstGeom>
          <a:solidFill>
            <a:srgbClr val="2F75B5"/>
          </a:solidFill>
          <a:ln cap="flat" cmpd="sng" w="12700">
            <a:solidFill>
              <a:srgbClr val="2F75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1417320" y="1655064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Gerencia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2560320" y="16459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KPIs, visión global, decisiones de producto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731520" y="2514600"/>
            <a:ext cx="3931920" cy="713232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914400" y="2679192"/>
            <a:ext cx="347472" cy="34747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"/>
          <p:cNvSpPr/>
          <p:nvPr/>
        </p:nvSpPr>
        <p:spPr>
          <a:xfrm>
            <a:off x="1417320" y="2615184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Finanzas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2560320" y="260604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Comercial, recaudación, exportación CSV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731520" y="3474720"/>
            <a:ext cx="3931920" cy="713232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"/>
          <p:cNvSpPr/>
          <p:nvPr/>
        </p:nvSpPr>
        <p:spPr>
          <a:xfrm>
            <a:off x="914400" y="3639312"/>
            <a:ext cx="347472" cy="347472"/>
          </a:xfrm>
          <a:prstGeom prst="ellipse">
            <a:avLst/>
          </a:prstGeom>
          <a:solidFill>
            <a:srgbClr val="2E8B57"/>
          </a:solidFill>
          <a:ln cap="flat" cmpd="sng" w="12700">
            <a:solidFill>
              <a:srgbClr val="2E8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5"/>
          <p:cNvSpPr/>
          <p:nvPr/>
        </p:nvSpPr>
        <p:spPr>
          <a:xfrm>
            <a:off x="1417320" y="3575304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Operaciones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2560320" y="356616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Salud de servicios, contenedores, acciones operativas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731520" y="4434840"/>
            <a:ext cx="3931920" cy="713232"/>
          </a:xfrm>
          <a:prstGeom prst="roundRect">
            <a:avLst>
              <a:gd fmla="val 7692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914400" y="4599432"/>
            <a:ext cx="347472" cy="347472"/>
          </a:xfrm>
          <a:prstGeom prst="ellipse">
            <a:avLst/>
          </a:prstGeom>
          <a:solidFill>
            <a:srgbClr val="6C63A8"/>
          </a:solidFill>
          <a:ln cap="flat" cmpd="sng" w="12700">
            <a:solidFill>
              <a:srgbClr val="6C63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1417320" y="4535424"/>
            <a:ext cx="1097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Soporte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2560320" y="452628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020"/>
              <a:buFont typeface="Arial"/>
              <a:buNone/>
            </a:pPr>
            <a:r>
              <a:rPr b="0" i="0" lang="en-US" sz="102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Usuarios, tickets y moderación de recorrecciones</a:t>
            </a:r>
            <a:endParaRPr b="0" i="0" sz="10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5486400" y="1847088"/>
            <a:ext cx="1234440" cy="73152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52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5577840" y="2075688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120"/>
              <a:buFont typeface="Arial"/>
              <a:buNone/>
            </a:pPr>
            <a:r>
              <a:rPr b="1" i="0" lang="en-US" sz="112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Login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6748272" y="2084832"/>
            <a:ext cx="256032" cy="256032"/>
          </a:xfrm>
          <a:prstGeom prst="chevron">
            <a:avLst>
              <a:gd fmla="val 50000" name="adj"/>
            </a:avLst>
          </a:prstGeom>
          <a:solidFill>
            <a:srgbClr val="AAB8C5"/>
          </a:solidFill>
          <a:ln cap="flat" cmpd="sng" w="12700">
            <a:solidFill>
              <a:srgbClr val="AAB8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7086600" y="1847088"/>
            <a:ext cx="1234440" cy="73152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52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7178040" y="2075688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120"/>
              <a:buFont typeface="Arial"/>
              <a:buNone/>
            </a:pPr>
            <a:r>
              <a:rPr b="1" i="0" lang="en-US" sz="112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MFA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8348472" y="2084832"/>
            <a:ext cx="256032" cy="256032"/>
          </a:xfrm>
          <a:prstGeom prst="chevron">
            <a:avLst>
              <a:gd fmla="val 50000" name="adj"/>
            </a:avLst>
          </a:prstGeom>
          <a:solidFill>
            <a:srgbClr val="AAB8C5"/>
          </a:solidFill>
          <a:ln cap="flat" cmpd="sng" w="12700">
            <a:solidFill>
              <a:srgbClr val="AAB8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5"/>
          <p:cNvSpPr/>
          <p:nvPr/>
        </p:nvSpPr>
        <p:spPr>
          <a:xfrm>
            <a:off x="8686800" y="1847088"/>
            <a:ext cx="1234440" cy="731520"/>
          </a:xfrm>
          <a:prstGeom prst="roundRect">
            <a:avLst>
              <a:gd fmla="val 10000" name="adj"/>
            </a:avLst>
          </a:prstGeom>
          <a:solidFill>
            <a:srgbClr val="FFFFFF"/>
          </a:solidFill>
          <a:ln cap="flat" cmpd="sng" w="15225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5"/>
          <p:cNvSpPr/>
          <p:nvPr/>
        </p:nvSpPr>
        <p:spPr>
          <a:xfrm>
            <a:off x="8778240" y="2075688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120"/>
              <a:buFont typeface="Arial"/>
              <a:buNone/>
            </a:pPr>
            <a:r>
              <a:rPr b="1" i="0" lang="en-US" sz="112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Sesión / JWT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9948672" y="2084832"/>
            <a:ext cx="256032" cy="256032"/>
          </a:xfrm>
          <a:prstGeom prst="chevron">
            <a:avLst>
              <a:gd fmla="val 50000" name="adj"/>
            </a:avLst>
          </a:prstGeom>
          <a:solidFill>
            <a:srgbClr val="AAB8C5"/>
          </a:solidFill>
          <a:ln cap="flat" cmpd="sng" w="12700">
            <a:solidFill>
              <a:srgbClr val="AAB8C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"/>
          <p:cNvSpPr/>
          <p:nvPr/>
        </p:nvSpPr>
        <p:spPr>
          <a:xfrm>
            <a:off x="10195560" y="1847088"/>
            <a:ext cx="1234440" cy="731520"/>
          </a:xfrm>
          <a:prstGeom prst="roundRect">
            <a:avLst>
              <a:gd fmla="val 10000" name="adj"/>
            </a:avLst>
          </a:prstGeom>
          <a:solidFill>
            <a:srgbClr val="E9EFF8"/>
          </a:solidFill>
          <a:ln cap="flat" cmpd="sng" w="15225">
            <a:solidFill>
              <a:srgbClr val="2F75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5"/>
          <p:cNvSpPr/>
          <p:nvPr/>
        </p:nvSpPr>
        <p:spPr>
          <a:xfrm>
            <a:off x="10287000" y="2075688"/>
            <a:ext cx="10515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120"/>
              <a:buFont typeface="Arial"/>
              <a:buNone/>
            </a:pPr>
            <a:r>
              <a:rPr b="1" i="0" lang="en-US" sz="112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RBAC + rutas</a:t>
            </a:r>
            <a:endParaRPr b="0" i="0" sz="11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5486400" y="3017520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F75B5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2F75B5"/>
                </a:solidFill>
                <a:latin typeface="Arial"/>
                <a:ea typeface="Arial"/>
                <a:cs typeface="Arial"/>
                <a:sym typeface="Arial"/>
              </a:rPr>
              <a:t>Responsabilidad Frontend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5486400" y="3502152"/>
            <a:ext cx="73152" cy="73152"/>
          </a:xfrm>
          <a:prstGeom prst="ellipse">
            <a:avLst/>
          </a:prstGeom>
          <a:solidFill>
            <a:srgbClr val="2F75B5"/>
          </a:solidFill>
          <a:ln cap="flat" cmpd="sng" w="12700">
            <a:solidFill>
              <a:srgbClr val="2F75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5641848" y="3429000"/>
            <a:ext cx="51480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Guiar el flujo de autenticación y MFA.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5"/>
          <p:cNvSpPr/>
          <p:nvPr/>
        </p:nvSpPr>
        <p:spPr>
          <a:xfrm>
            <a:off x="5486400" y="3913632"/>
            <a:ext cx="73152" cy="73152"/>
          </a:xfrm>
          <a:prstGeom prst="ellipse">
            <a:avLst/>
          </a:prstGeom>
          <a:solidFill>
            <a:srgbClr val="2F75B5"/>
          </a:solidFill>
          <a:ln cap="flat" cmpd="sng" w="12700">
            <a:solidFill>
              <a:srgbClr val="2F75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5641848" y="3840480"/>
            <a:ext cx="51480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Manejar estado de sesión y expiración.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5486400" y="4325112"/>
            <a:ext cx="73152" cy="73152"/>
          </a:xfrm>
          <a:prstGeom prst="ellipse">
            <a:avLst/>
          </a:prstGeom>
          <a:solidFill>
            <a:srgbClr val="2F75B5"/>
          </a:solidFill>
          <a:ln cap="flat" cmpd="sng" w="12700">
            <a:solidFill>
              <a:srgbClr val="2F75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5"/>
          <p:cNvSpPr/>
          <p:nvPr/>
        </p:nvSpPr>
        <p:spPr>
          <a:xfrm>
            <a:off x="5641848" y="4251960"/>
            <a:ext cx="51480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Ocultar o bloquear navegación según permisos recibidos.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5"/>
          <p:cNvSpPr/>
          <p:nvPr/>
        </p:nvSpPr>
        <p:spPr>
          <a:xfrm>
            <a:off x="5486400" y="4736592"/>
            <a:ext cx="73152" cy="73152"/>
          </a:xfrm>
          <a:prstGeom prst="ellipse">
            <a:avLst/>
          </a:prstGeom>
          <a:solidFill>
            <a:srgbClr val="C94C4C"/>
          </a:solidFill>
          <a:ln cap="flat" cmpd="sng" w="12700">
            <a:solidFill>
              <a:srgbClr val="C9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"/>
          <p:cNvSpPr/>
          <p:nvPr/>
        </p:nvSpPr>
        <p:spPr>
          <a:xfrm>
            <a:off x="5641848" y="4663440"/>
            <a:ext cx="51480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Nunca asumir que ocultar un botón equivale a autorizar.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5"/>
          <p:cNvSpPr/>
          <p:nvPr/>
        </p:nvSpPr>
        <p:spPr>
          <a:xfrm>
            <a:off x="5486400" y="5166360"/>
            <a:ext cx="5257800" cy="685800"/>
          </a:xfrm>
          <a:prstGeom prst="roundRect">
            <a:avLst>
              <a:gd fmla="val 8000" name="adj"/>
            </a:avLst>
          </a:prstGeom>
          <a:solidFill>
            <a:srgbClr val="FFF4DD"/>
          </a:solidFill>
          <a:ln cap="flat" cmpd="sng" w="12700">
            <a:solidFill>
              <a:srgbClr val="ECD6A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"/>
          <p:cNvSpPr/>
          <p:nvPr/>
        </p:nvSpPr>
        <p:spPr>
          <a:xfrm>
            <a:off x="5715000" y="5367528"/>
            <a:ext cx="4800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5A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8A5A00"/>
                </a:solidFill>
                <a:latin typeface="Arial"/>
                <a:ea typeface="Arial"/>
                <a:cs typeface="Arial"/>
                <a:sym typeface="Arial"/>
              </a:rPr>
              <a:t>Regla de arquitectura: el Frontend representa permisos; el Backend los hace cumplir.</a:t>
            </a:r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5"/>
          <p:cNvSpPr txBox="1"/>
          <p:nvPr>
            <p:ph idx="4294967295" type="sldNum"/>
          </p:nvPr>
        </p:nvSpPr>
        <p:spPr>
          <a:xfrm>
            <a:off x="11384280" y="651052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B879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6"/>
          <p:cNvSpPr/>
          <p:nvPr/>
        </p:nvSpPr>
        <p:spPr>
          <a:xfrm>
            <a:off x="566928" y="594360"/>
            <a:ext cx="10972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7324D"/>
                </a:solidFill>
                <a:latin typeface="Play"/>
                <a:ea typeface="Play"/>
                <a:cs typeface="Play"/>
                <a:sym typeface="Play"/>
              </a:rPr>
              <a:t>Arquitectura y stack tecnológico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585216" y="1069848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Una SPA desacoplada, con contrato API estable y capacidad de trabajar con mocks cuando el Backend no esté disponible.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731520" y="2011680"/>
            <a:ext cx="1874520" cy="1463040"/>
          </a:xfrm>
          <a:prstGeom prst="roundRect">
            <a:avLst>
              <a:gd fmla="val 5000" name="adj"/>
            </a:avLst>
          </a:prstGeom>
          <a:solidFill>
            <a:srgbClr val="EAF2F8"/>
          </a:solidFill>
          <a:ln cap="flat" cmpd="sng" w="22850">
            <a:solidFill>
              <a:srgbClr val="2F75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6"/>
          <p:cNvSpPr/>
          <p:nvPr/>
        </p:nvSpPr>
        <p:spPr>
          <a:xfrm>
            <a:off x="868680" y="2286000"/>
            <a:ext cx="1600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Administrador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6"/>
          <p:cNvSpPr/>
          <p:nvPr/>
        </p:nvSpPr>
        <p:spPr>
          <a:xfrm>
            <a:off x="868680" y="2697480"/>
            <a:ext cx="1600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Navegador web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2743200" y="2542032"/>
            <a:ext cx="384048" cy="384048"/>
          </a:xfrm>
          <a:prstGeom prst="chevron">
            <a:avLst>
              <a:gd fmla="val 50000" name="adj"/>
            </a:avLst>
          </a:prstGeom>
          <a:solidFill>
            <a:srgbClr val="91A4B5"/>
          </a:solidFill>
          <a:ln cap="flat" cmpd="sng" w="12700">
            <a:solidFill>
              <a:srgbClr val="91A4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"/>
          <p:cNvSpPr/>
          <p:nvPr/>
        </p:nvSpPr>
        <p:spPr>
          <a:xfrm>
            <a:off x="2880360" y="2011680"/>
            <a:ext cx="2240280" cy="146304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22850">
            <a:solidFill>
              <a:srgbClr val="1F4E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3017520" y="2286000"/>
            <a:ext cx="1965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SPA Frontend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3017520" y="2697480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React 18 · Vite · Router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i18n · temas · gráficos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5257800" y="2542032"/>
            <a:ext cx="384048" cy="384048"/>
          </a:xfrm>
          <a:prstGeom prst="chevron">
            <a:avLst>
              <a:gd fmla="val 50000" name="adj"/>
            </a:avLst>
          </a:prstGeom>
          <a:solidFill>
            <a:srgbClr val="91A4B5"/>
          </a:solidFill>
          <a:ln cap="flat" cmpd="sng" w="12700">
            <a:solidFill>
              <a:srgbClr val="91A4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5623560" y="2011680"/>
            <a:ext cx="2148840" cy="1463040"/>
          </a:xfrm>
          <a:prstGeom prst="roundRect">
            <a:avLst>
              <a:gd fmla="val 5000" name="adj"/>
            </a:avLst>
          </a:prstGeom>
          <a:solidFill>
            <a:srgbClr val="EEF7F1"/>
          </a:solidFill>
          <a:ln cap="flat" cmpd="sng" w="22850">
            <a:solidFill>
              <a:srgbClr val="2E8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6"/>
          <p:cNvSpPr/>
          <p:nvPr/>
        </p:nvSpPr>
        <p:spPr>
          <a:xfrm>
            <a:off x="5760720" y="2286000"/>
            <a:ext cx="1874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API REST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5760720" y="2697480"/>
            <a:ext cx="18745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/api/v1/admin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{ data, error, meta }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6"/>
          <p:cNvSpPr/>
          <p:nvPr/>
        </p:nvSpPr>
        <p:spPr>
          <a:xfrm>
            <a:off x="7909560" y="2542032"/>
            <a:ext cx="384048" cy="384048"/>
          </a:xfrm>
          <a:prstGeom prst="chevron">
            <a:avLst>
              <a:gd fmla="val 50000" name="adj"/>
            </a:avLst>
          </a:prstGeom>
          <a:solidFill>
            <a:srgbClr val="91A4B5"/>
          </a:solidFill>
          <a:ln cap="flat" cmpd="sng" w="12700">
            <a:solidFill>
              <a:srgbClr val="91A4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6"/>
          <p:cNvSpPr/>
          <p:nvPr/>
        </p:nvSpPr>
        <p:spPr>
          <a:xfrm>
            <a:off x="8275320" y="2011680"/>
            <a:ext cx="2834640" cy="1463040"/>
          </a:xfrm>
          <a:prstGeom prst="roundRect">
            <a:avLst>
              <a:gd fmla="val 5000" name="adj"/>
            </a:avLst>
          </a:prstGeom>
          <a:solidFill>
            <a:srgbClr val="FFF6E5"/>
          </a:solidFill>
          <a:ln cap="flat" cmpd="sng" w="2285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6"/>
          <p:cNvSpPr/>
          <p:nvPr/>
        </p:nvSpPr>
        <p:spPr>
          <a:xfrm>
            <a:off x="8412480" y="2286000"/>
            <a:ext cx="2560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Backend administrativo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8412480" y="2697480"/>
            <a:ext cx="25603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RBAC · auditoría · métricas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050"/>
              <a:buFont typeface="Arial"/>
              <a:buNone/>
            </a:pPr>
            <a:r>
              <a:rPr b="0" i="0" lang="en-US" sz="105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Firestore · Stripe · operaciones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731520" y="4160520"/>
            <a:ext cx="1280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8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F4E78"/>
                </a:solidFill>
                <a:latin typeface="Arial"/>
                <a:ea typeface="Arial"/>
                <a:cs typeface="Arial"/>
                <a:sym typeface="Arial"/>
              </a:rPr>
              <a:t>Stack Frontend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731520" y="4572000"/>
            <a:ext cx="1143000" cy="310896"/>
          </a:xfrm>
          <a:prstGeom prst="roundRect">
            <a:avLst>
              <a:gd fmla="val 3529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"/>
          <p:cNvSpPr/>
          <p:nvPr/>
        </p:nvSpPr>
        <p:spPr>
          <a:xfrm>
            <a:off x="804672" y="4636008"/>
            <a:ext cx="9966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75B5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F75B5"/>
                </a:solidFill>
                <a:latin typeface="Arial"/>
                <a:ea typeface="Arial"/>
                <a:cs typeface="Arial"/>
                <a:sym typeface="Arial"/>
              </a:rPr>
              <a:t>React 18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2002536" y="4572000"/>
            <a:ext cx="1143000" cy="310896"/>
          </a:xfrm>
          <a:prstGeom prst="roundRect">
            <a:avLst>
              <a:gd fmla="val 3529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6"/>
          <p:cNvSpPr/>
          <p:nvPr/>
        </p:nvSpPr>
        <p:spPr>
          <a:xfrm>
            <a:off x="2075688" y="4636008"/>
            <a:ext cx="9966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63A8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6C63A8"/>
                </a:solidFill>
                <a:latin typeface="Arial"/>
                <a:ea typeface="Arial"/>
                <a:cs typeface="Arial"/>
                <a:sym typeface="Arial"/>
              </a:rPr>
              <a:t>Vite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6"/>
          <p:cNvSpPr/>
          <p:nvPr/>
        </p:nvSpPr>
        <p:spPr>
          <a:xfrm>
            <a:off x="3273552" y="4572000"/>
            <a:ext cx="1371600" cy="310896"/>
          </a:xfrm>
          <a:prstGeom prst="roundRect">
            <a:avLst>
              <a:gd fmla="val 3529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6"/>
          <p:cNvSpPr/>
          <p:nvPr/>
        </p:nvSpPr>
        <p:spPr>
          <a:xfrm>
            <a:off x="3346704" y="4636008"/>
            <a:ext cx="12252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B5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E8B57"/>
                </a:solidFill>
                <a:latin typeface="Arial"/>
                <a:ea typeface="Arial"/>
                <a:cs typeface="Arial"/>
                <a:sym typeface="Arial"/>
              </a:rPr>
              <a:t>React Router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6"/>
          <p:cNvSpPr/>
          <p:nvPr/>
        </p:nvSpPr>
        <p:spPr>
          <a:xfrm>
            <a:off x="4773168" y="4572000"/>
            <a:ext cx="1371600" cy="310896"/>
          </a:xfrm>
          <a:prstGeom prst="roundRect">
            <a:avLst>
              <a:gd fmla="val 3529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4846320" y="4636008"/>
            <a:ext cx="12252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C0EB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5BC0EB"/>
                </a:solidFill>
                <a:latin typeface="Arial"/>
                <a:ea typeface="Arial"/>
                <a:cs typeface="Arial"/>
                <a:sym typeface="Arial"/>
              </a:rPr>
              <a:t>Axios / Fetch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6"/>
          <p:cNvSpPr/>
          <p:nvPr/>
        </p:nvSpPr>
        <p:spPr>
          <a:xfrm>
            <a:off x="6272784" y="4572000"/>
            <a:ext cx="1143000" cy="310896"/>
          </a:xfrm>
          <a:prstGeom prst="roundRect">
            <a:avLst>
              <a:gd fmla="val 3529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6"/>
          <p:cNvSpPr/>
          <p:nvPr/>
        </p:nvSpPr>
        <p:spPr>
          <a:xfrm>
            <a:off x="6345936" y="4636008"/>
            <a:ext cx="9966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B134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2B134"/>
                </a:solidFill>
                <a:latin typeface="Arial"/>
                <a:ea typeface="Arial"/>
                <a:cs typeface="Arial"/>
                <a:sym typeface="Arial"/>
              </a:rPr>
              <a:t>i18next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6"/>
          <p:cNvSpPr/>
          <p:nvPr/>
        </p:nvSpPr>
        <p:spPr>
          <a:xfrm>
            <a:off x="7543800" y="4572000"/>
            <a:ext cx="1371600" cy="310896"/>
          </a:xfrm>
          <a:prstGeom prst="roundRect">
            <a:avLst>
              <a:gd fmla="val 3529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6"/>
          <p:cNvSpPr/>
          <p:nvPr/>
        </p:nvSpPr>
        <p:spPr>
          <a:xfrm>
            <a:off x="7616952" y="4636008"/>
            <a:ext cx="12252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4C4C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C94C4C"/>
                </a:solidFill>
                <a:latin typeface="Arial"/>
                <a:ea typeface="Arial"/>
                <a:cs typeface="Arial"/>
                <a:sym typeface="Arial"/>
              </a:rPr>
              <a:t>Vitest / RTL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6"/>
          <p:cNvSpPr/>
          <p:nvPr/>
        </p:nvSpPr>
        <p:spPr>
          <a:xfrm>
            <a:off x="9043416" y="4572000"/>
            <a:ext cx="1143000" cy="310896"/>
          </a:xfrm>
          <a:prstGeom prst="roundRect">
            <a:avLst>
              <a:gd fmla="val 3529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6"/>
          <p:cNvSpPr/>
          <p:nvPr/>
        </p:nvSpPr>
        <p:spPr>
          <a:xfrm>
            <a:off x="9116568" y="4636008"/>
            <a:ext cx="9966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8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F4E78"/>
                </a:solidFill>
                <a:latin typeface="Arial"/>
                <a:ea typeface="Arial"/>
                <a:cs typeface="Arial"/>
                <a:sym typeface="Arial"/>
              </a:rPr>
              <a:t>Playwright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6"/>
          <p:cNvSpPr/>
          <p:nvPr/>
        </p:nvSpPr>
        <p:spPr>
          <a:xfrm>
            <a:off x="731520" y="5074920"/>
            <a:ext cx="1143000" cy="310896"/>
          </a:xfrm>
          <a:prstGeom prst="roundRect">
            <a:avLst>
              <a:gd fmla="val 3529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6"/>
          <p:cNvSpPr/>
          <p:nvPr/>
        </p:nvSpPr>
        <p:spPr>
          <a:xfrm>
            <a:off x="804672" y="5138928"/>
            <a:ext cx="99669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B5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E8B57"/>
                </a:solidFill>
                <a:latin typeface="Arial"/>
                <a:ea typeface="Arial"/>
                <a:cs typeface="Arial"/>
                <a:sym typeface="Arial"/>
              </a:rPr>
              <a:t>Lighthouse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6"/>
          <p:cNvSpPr/>
          <p:nvPr/>
        </p:nvSpPr>
        <p:spPr>
          <a:xfrm>
            <a:off x="731520" y="5532120"/>
            <a:ext cx="10515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Dependencia crítica: contrato de API y códigos de respuesta acordados tempranamente. Los mocks permiten que el Frontend avance sin bloqueo.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6"/>
          <p:cNvSpPr txBox="1"/>
          <p:nvPr>
            <p:ph idx="4294967295" type="sldNum"/>
          </p:nvPr>
        </p:nvSpPr>
        <p:spPr>
          <a:xfrm>
            <a:off x="11384280" y="651052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B879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7"/>
          <p:cNvSpPr/>
          <p:nvPr/>
        </p:nvSpPr>
        <p:spPr>
          <a:xfrm>
            <a:off x="566928" y="594360"/>
            <a:ext cx="10972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7324D"/>
                </a:solidFill>
                <a:latin typeface="Play"/>
                <a:ea typeface="Play"/>
                <a:cs typeface="Play"/>
                <a:sym typeface="Play"/>
              </a:rPr>
              <a:t>Enfoque metodológico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585216" y="1069848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Scrum con sprints de 1 semana, apoyado por Kanban y una coordinación continua con Backend.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731520" y="1463040"/>
            <a:ext cx="502920" cy="502920"/>
          </a:xfrm>
          <a:prstGeom prst="ellipse">
            <a:avLst/>
          </a:prstGeom>
          <a:solidFill>
            <a:srgbClr val="2F75B5"/>
          </a:solidFill>
          <a:ln cap="flat" cmpd="sng" w="12700">
            <a:solidFill>
              <a:srgbClr val="2F75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731520" y="1572768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1463040" y="1481328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Planificación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3063240" y="1481328"/>
            <a:ext cx="4480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Seleccionar historias y tareas priorizadas del Product Backlog.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4" name="Google Shape;254;p7"/>
          <p:cNvCxnSpPr/>
          <p:nvPr/>
        </p:nvCxnSpPr>
        <p:spPr>
          <a:xfrm>
            <a:off x="978408" y="1984248"/>
            <a:ext cx="0" cy="347472"/>
          </a:xfrm>
          <a:prstGeom prst="straightConnector1">
            <a:avLst/>
          </a:prstGeom>
          <a:noFill/>
          <a:ln cap="flat" cmpd="sng" w="17775">
            <a:solidFill>
              <a:srgbClr val="B9C7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5" name="Google Shape;255;p7"/>
          <p:cNvSpPr/>
          <p:nvPr/>
        </p:nvSpPr>
        <p:spPr>
          <a:xfrm>
            <a:off x="731520" y="2359152"/>
            <a:ext cx="502920" cy="502920"/>
          </a:xfrm>
          <a:prstGeom prst="ellipse">
            <a:avLst/>
          </a:prstGeom>
          <a:solidFill>
            <a:srgbClr val="2E8B57"/>
          </a:solidFill>
          <a:ln cap="flat" cmpd="sng" w="12700">
            <a:solidFill>
              <a:srgbClr val="2E8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731520" y="2468880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1463040" y="2377440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Ejecución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3063240" y="2377440"/>
            <a:ext cx="4480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Desarrollar componentes/módulos e integrar contratos disponibles.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9" name="Google Shape;259;p7"/>
          <p:cNvCxnSpPr/>
          <p:nvPr/>
        </p:nvCxnSpPr>
        <p:spPr>
          <a:xfrm>
            <a:off x="978408" y="2880360"/>
            <a:ext cx="0" cy="347472"/>
          </a:xfrm>
          <a:prstGeom prst="straightConnector1">
            <a:avLst/>
          </a:prstGeom>
          <a:noFill/>
          <a:ln cap="flat" cmpd="sng" w="17775">
            <a:solidFill>
              <a:srgbClr val="B9C7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0" name="Google Shape;260;p7"/>
          <p:cNvSpPr/>
          <p:nvPr/>
        </p:nvSpPr>
        <p:spPr>
          <a:xfrm>
            <a:off x="731520" y="3255264"/>
            <a:ext cx="502920" cy="502920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7"/>
          <p:cNvSpPr/>
          <p:nvPr/>
        </p:nvSpPr>
        <p:spPr>
          <a:xfrm>
            <a:off x="731520" y="3364992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1463040" y="3273552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Seguimiento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3063240" y="3273552"/>
            <a:ext cx="4480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Tablero Kanban: Pendiente → En desarrollo → En revisión → Finalizado.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4" name="Google Shape;264;p7"/>
          <p:cNvCxnSpPr/>
          <p:nvPr/>
        </p:nvCxnSpPr>
        <p:spPr>
          <a:xfrm>
            <a:off x="978408" y="3776472"/>
            <a:ext cx="0" cy="347472"/>
          </a:xfrm>
          <a:prstGeom prst="straightConnector1">
            <a:avLst/>
          </a:prstGeom>
          <a:noFill/>
          <a:ln cap="flat" cmpd="sng" w="17775">
            <a:solidFill>
              <a:srgbClr val="B9C7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5" name="Google Shape;265;p7"/>
          <p:cNvSpPr/>
          <p:nvPr/>
        </p:nvSpPr>
        <p:spPr>
          <a:xfrm>
            <a:off x="731520" y="4151376"/>
            <a:ext cx="502920" cy="502920"/>
          </a:xfrm>
          <a:prstGeom prst="ellipse">
            <a:avLst/>
          </a:prstGeom>
          <a:solidFill>
            <a:srgbClr val="6C63A8"/>
          </a:solidFill>
          <a:ln cap="flat" cmpd="sng" w="12700">
            <a:solidFill>
              <a:srgbClr val="6C63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7"/>
          <p:cNvSpPr/>
          <p:nvPr/>
        </p:nvSpPr>
        <p:spPr>
          <a:xfrm>
            <a:off x="731520" y="4261104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1463040" y="4169664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Revisión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3063240" y="4169664"/>
            <a:ext cx="4480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Demostrar el incremento, validar criterios y registrar pendientes.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69" name="Google Shape;269;p7"/>
          <p:cNvCxnSpPr/>
          <p:nvPr/>
        </p:nvCxnSpPr>
        <p:spPr>
          <a:xfrm>
            <a:off x="978408" y="4672584"/>
            <a:ext cx="0" cy="347472"/>
          </a:xfrm>
          <a:prstGeom prst="straightConnector1">
            <a:avLst/>
          </a:prstGeom>
          <a:noFill/>
          <a:ln cap="flat" cmpd="sng" w="17775">
            <a:solidFill>
              <a:srgbClr val="B9C7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0" name="Google Shape;270;p7"/>
          <p:cNvSpPr/>
          <p:nvPr/>
        </p:nvSpPr>
        <p:spPr>
          <a:xfrm>
            <a:off x="731520" y="5047488"/>
            <a:ext cx="502920" cy="502920"/>
          </a:xfrm>
          <a:prstGeom prst="ellipse">
            <a:avLst/>
          </a:prstGeom>
          <a:solidFill>
            <a:srgbClr val="C94C4C"/>
          </a:solidFill>
          <a:ln cap="flat" cmpd="sng" w="12700">
            <a:solidFill>
              <a:srgbClr val="C9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7"/>
          <p:cNvSpPr/>
          <p:nvPr/>
        </p:nvSpPr>
        <p:spPr>
          <a:xfrm>
            <a:off x="731520" y="5157216"/>
            <a:ext cx="502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Arial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7"/>
          <p:cNvSpPr/>
          <p:nvPr/>
        </p:nvSpPr>
        <p:spPr>
          <a:xfrm>
            <a:off x="1463040" y="5065776"/>
            <a:ext cx="1554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Retrospectiva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3063240" y="5065776"/>
            <a:ext cx="4480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Ajustar proceso, riesgos, estimaciones y acuerdos para el siguiente sprint.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7818120" y="1554480"/>
            <a:ext cx="3383280" cy="4251960"/>
          </a:xfrm>
          <a:prstGeom prst="roundRect">
            <a:avLst>
              <a:gd fmla="val 2162" name="adj"/>
            </a:avLst>
          </a:prstGeom>
          <a:solidFill>
            <a:srgbClr val="EDF3F8"/>
          </a:solidFill>
          <a:ln cap="flat" cmpd="sng" w="12700">
            <a:solidFill>
              <a:srgbClr val="CAD9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7"/>
          <p:cNvSpPr/>
          <p:nvPr/>
        </p:nvSpPr>
        <p:spPr>
          <a:xfrm>
            <a:off x="8092440" y="1828800"/>
            <a:ext cx="26517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8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F4E78"/>
                </a:solidFill>
                <a:latin typeface="Arial"/>
                <a:ea typeface="Arial"/>
                <a:cs typeface="Arial"/>
                <a:sym typeface="Arial"/>
              </a:rPr>
              <a:t>Reglas de trabajo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8092440" y="2404872"/>
            <a:ext cx="73152" cy="73152"/>
          </a:xfrm>
          <a:prstGeom prst="ellipse">
            <a:avLst/>
          </a:prstGeom>
          <a:solidFill>
            <a:srgbClr val="2F75B5"/>
          </a:solidFill>
          <a:ln cap="flat" cmpd="sng" w="12700">
            <a:solidFill>
              <a:srgbClr val="2F75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7"/>
          <p:cNvSpPr/>
          <p:nvPr/>
        </p:nvSpPr>
        <p:spPr>
          <a:xfrm>
            <a:off x="8247888" y="2331720"/>
            <a:ext cx="2633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Historia con criterio de aceptación antes de comenzar.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7"/>
          <p:cNvSpPr/>
          <p:nvPr/>
        </p:nvSpPr>
        <p:spPr>
          <a:xfrm>
            <a:off x="8092440" y="2907792"/>
            <a:ext cx="73152" cy="73152"/>
          </a:xfrm>
          <a:prstGeom prst="ellipse">
            <a:avLst/>
          </a:prstGeom>
          <a:solidFill>
            <a:srgbClr val="2E8B57"/>
          </a:solidFill>
          <a:ln cap="flat" cmpd="sng" w="12700">
            <a:solidFill>
              <a:srgbClr val="2E8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7"/>
          <p:cNvSpPr/>
          <p:nvPr/>
        </p:nvSpPr>
        <p:spPr>
          <a:xfrm>
            <a:off x="8247888" y="2834640"/>
            <a:ext cx="2633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Pull request + revisión de código antes de cerrar.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8092440" y="3410712"/>
            <a:ext cx="73152" cy="7315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7"/>
          <p:cNvSpPr/>
          <p:nvPr/>
        </p:nvSpPr>
        <p:spPr>
          <a:xfrm>
            <a:off x="8247888" y="3337560"/>
            <a:ext cx="2633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Mocks cuando la API real aún no esté disponible.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8092440" y="3913632"/>
            <a:ext cx="73152" cy="73152"/>
          </a:xfrm>
          <a:prstGeom prst="ellipse">
            <a:avLst/>
          </a:prstGeom>
          <a:solidFill>
            <a:srgbClr val="6C63A8"/>
          </a:solidFill>
          <a:ln cap="flat" cmpd="sng" w="12700">
            <a:solidFill>
              <a:srgbClr val="6C63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7"/>
          <p:cNvSpPr/>
          <p:nvPr/>
        </p:nvSpPr>
        <p:spPr>
          <a:xfrm>
            <a:off x="8247888" y="3840480"/>
            <a:ext cx="2633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Pruebas mínimas y validación manual para cada incremento.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7"/>
          <p:cNvSpPr/>
          <p:nvPr/>
        </p:nvSpPr>
        <p:spPr>
          <a:xfrm>
            <a:off x="8092440" y="4416552"/>
            <a:ext cx="73152" cy="73152"/>
          </a:xfrm>
          <a:prstGeom prst="ellipse">
            <a:avLst/>
          </a:prstGeom>
          <a:solidFill>
            <a:srgbClr val="C94C4C"/>
          </a:solidFill>
          <a:ln cap="flat" cmpd="sng" w="12700">
            <a:solidFill>
              <a:srgbClr val="C9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7"/>
          <p:cNvSpPr/>
          <p:nvPr/>
        </p:nvSpPr>
        <p:spPr>
          <a:xfrm>
            <a:off x="8247888" y="4343400"/>
            <a:ext cx="26334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Documentación técnica actualizada junto al código.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8092440" y="4937760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Definición de terminado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7"/>
          <p:cNvSpPr/>
          <p:nvPr/>
        </p:nvSpPr>
        <p:spPr>
          <a:xfrm>
            <a:off x="8092440" y="5257800"/>
            <a:ext cx="2743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040"/>
              <a:buFont typeface="Arial"/>
              <a:buNone/>
            </a:pPr>
            <a:r>
              <a:rPr b="0" i="0" lang="en-US" sz="104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Código integrado + criterios cumplidos + revisión + pruebas + sin errores críticos conocidos.</a:t>
            </a:r>
            <a:endParaRPr b="0" i="0" sz="104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8" name="Google Shape;288;p7"/>
          <p:cNvSpPr txBox="1"/>
          <p:nvPr>
            <p:ph idx="4294967295" type="sldNum"/>
          </p:nvPr>
        </p:nvSpPr>
        <p:spPr>
          <a:xfrm>
            <a:off x="11384280" y="651052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B879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8"/>
          <p:cNvSpPr/>
          <p:nvPr/>
        </p:nvSpPr>
        <p:spPr>
          <a:xfrm>
            <a:off x="566928" y="594360"/>
            <a:ext cx="10972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7324D"/>
                </a:solidFill>
                <a:latin typeface="Play"/>
                <a:ea typeface="Play"/>
                <a:cs typeface="Play"/>
                <a:sym typeface="Play"/>
              </a:rPr>
              <a:t>Equipo y responsabilidades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585216" y="1069848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Responsabilidades primarias claras, con integración, pruebas y documentación compartidas.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731520" y="1508760"/>
            <a:ext cx="4892040" cy="274320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D0D7DE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8"/>
          <p:cNvSpPr/>
          <p:nvPr/>
        </p:nvSpPr>
        <p:spPr>
          <a:xfrm>
            <a:off x="749808" y="1527048"/>
            <a:ext cx="64008" cy="2706624"/>
          </a:xfrm>
          <a:prstGeom prst="rect">
            <a:avLst/>
          </a:prstGeom>
          <a:solidFill>
            <a:srgbClr val="2F75B5"/>
          </a:solidFill>
          <a:ln cap="flat" cmpd="sng" w="12700">
            <a:solidFill>
              <a:srgbClr val="2F75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8"/>
          <p:cNvSpPr/>
          <p:nvPr/>
        </p:nvSpPr>
        <p:spPr>
          <a:xfrm>
            <a:off x="932688" y="1673352"/>
            <a:ext cx="45445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Fernando Casanueva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932688" y="2075688"/>
            <a:ext cx="4544568" cy="204825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Rol principal: Desarrollador Frontend UI/UX y especialista en componentes.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• Maquetación responsiva y sistema visual.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• Componentes reutilizables y accesibilidad.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• Diseño de formularios, tablas y modales.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• Desarrollo de módulos asignados.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5806440" y="1508760"/>
            <a:ext cx="4892040" cy="2743200"/>
          </a:xfrm>
          <a:prstGeom prst="roundRect">
            <a:avLst>
              <a:gd fmla="val 2667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  <a:effectLst>
            <a:outerShdw blurRad="12700" rotWithShape="0" algn="bl" dir="2700000" dist="50800">
              <a:srgbClr val="D0D7DE">
                <a:alpha val="16078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8"/>
          <p:cNvSpPr/>
          <p:nvPr/>
        </p:nvSpPr>
        <p:spPr>
          <a:xfrm>
            <a:off x="5824728" y="1527048"/>
            <a:ext cx="64008" cy="2706624"/>
          </a:xfrm>
          <a:prstGeom prst="rect">
            <a:avLst/>
          </a:prstGeom>
          <a:solidFill>
            <a:srgbClr val="2E8B57"/>
          </a:solidFill>
          <a:ln cap="flat" cmpd="sng" w="12700">
            <a:solidFill>
              <a:srgbClr val="2E8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8"/>
          <p:cNvSpPr/>
          <p:nvPr/>
        </p:nvSpPr>
        <p:spPr>
          <a:xfrm>
            <a:off x="6007608" y="1673352"/>
            <a:ext cx="454456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Ignacio Catalán</a:t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6007608" y="2075688"/>
            <a:ext cx="4544568" cy="2048256"/>
          </a:xfrm>
          <a:prstGeom prst="rect">
            <a:avLst/>
          </a:prstGeom>
          <a:noFill/>
          <a:ln>
            <a:noFill/>
          </a:ln>
        </p:spPr>
        <p:txBody>
          <a:bodyPr anchorCtr="0" anchor="t" bIns="250" lIns="250" spcFirstLastPara="1" rIns="250" wrap="square" tIns="25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Rol principal: Arquitecto Frontend e integración/seguridad cliente.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Font typeface="Arial"/>
              <a:buNone/>
            </a:pPr>
            <a:r>
              <a:t/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• Estructura de la SPA y navegación.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• Servicios de acceso a API y estado de sesión.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• Rutas protegidas y representación RBAC.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• Desarrollo de módulos asignados.</a:t>
            </a:r>
            <a:endParaRPr b="0" i="0" sz="11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731520" y="4617720"/>
            <a:ext cx="9966960" cy="1069848"/>
          </a:xfrm>
          <a:prstGeom prst="roundRect">
            <a:avLst>
              <a:gd fmla="val 5128" name="adj"/>
            </a:avLst>
          </a:prstGeom>
          <a:solidFill>
            <a:srgbClr val="F2F5F8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8"/>
          <p:cNvSpPr/>
          <p:nvPr/>
        </p:nvSpPr>
        <p:spPr>
          <a:xfrm>
            <a:off x="960120" y="4864608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8"/>
              </a:buClr>
              <a:buSzPts val="1350"/>
              <a:buFont typeface="Arial"/>
              <a:buNone/>
            </a:pPr>
            <a:r>
              <a:rPr b="1" i="0" lang="en-US" sz="1350" u="none" cap="none" strike="noStrike">
                <a:solidFill>
                  <a:srgbClr val="1F4E78"/>
                </a:solidFill>
                <a:latin typeface="Arial"/>
                <a:ea typeface="Arial"/>
                <a:cs typeface="Arial"/>
                <a:sym typeface="Arial"/>
              </a:rPr>
              <a:t>Responsabilidades compartidas</a:t>
            </a:r>
            <a:endParaRPr b="0" i="0" sz="13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3246120" y="4828032"/>
            <a:ext cx="1243584" cy="310896"/>
          </a:xfrm>
          <a:prstGeom prst="roundRect">
            <a:avLst>
              <a:gd fmla="val 3529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8"/>
          <p:cNvSpPr/>
          <p:nvPr/>
        </p:nvSpPr>
        <p:spPr>
          <a:xfrm>
            <a:off x="3319272" y="4892040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8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F4E78"/>
                </a:solidFill>
                <a:latin typeface="Arial"/>
                <a:ea typeface="Arial"/>
                <a:cs typeface="Arial"/>
                <a:sym typeface="Arial"/>
              </a:rPr>
              <a:t>Requerimientos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4645152" y="4828032"/>
            <a:ext cx="1078992" cy="310896"/>
          </a:xfrm>
          <a:prstGeom prst="roundRect">
            <a:avLst>
              <a:gd fmla="val 3529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8"/>
          <p:cNvSpPr/>
          <p:nvPr/>
        </p:nvSpPr>
        <p:spPr>
          <a:xfrm>
            <a:off x="4718304" y="4892040"/>
            <a:ext cx="9326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8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F4E78"/>
                </a:solidFill>
                <a:latin typeface="Arial"/>
                <a:ea typeface="Arial"/>
                <a:cs typeface="Arial"/>
                <a:sym typeface="Arial"/>
              </a:rPr>
              <a:t>Code review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5879592" y="4828032"/>
            <a:ext cx="1078992" cy="310896"/>
          </a:xfrm>
          <a:prstGeom prst="roundRect">
            <a:avLst>
              <a:gd fmla="val 3529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8"/>
          <p:cNvSpPr/>
          <p:nvPr/>
        </p:nvSpPr>
        <p:spPr>
          <a:xfrm>
            <a:off x="5952744" y="4892040"/>
            <a:ext cx="932688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8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F4E78"/>
                </a:solidFill>
                <a:latin typeface="Arial"/>
                <a:ea typeface="Arial"/>
                <a:cs typeface="Arial"/>
                <a:sym typeface="Arial"/>
              </a:rPr>
              <a:t>Pruebas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7114032" y="4828032"/>
            <a:ext cx="1243584" cy="310896"/>
          </a:xfrm>
          <a:prstGeom prst="roundRect">
            <a:avLst>
              <a:gd fmla="val 3529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8"/>
          <p:cNvSpPr/>
          <p:nvPr/>
        </p:nvSpPr>
        <p:spPr>
          <a:xfrm>
            <a:off x="7187184" y="4892040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8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F4E78"/>
                </a:solidFill>
                <a:latin typeface="Arial"/>
                <a:ea typeface="Arial"/>
                <a:cs typeface="Arial"/>
                <a:sym typeface="Arial"/>
              </a:rPr>
              <a:t>Documentación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8513064" y="4828032"/>
            <a:ext cx="1243584" cy="310896"/>
          </a:xfrm>
          <a:prstGeom prst="roundRect">
            <a:avLst>
              <a:gd fmla="val 3529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8"/>
          <p:cNvSpPr/>
          <p:nvPr/>
        </p:nvSpPr>
        <p:spPr>
          <a:xfrm>
            <a:off x="8586216" y="4892040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8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F4E78"/>
                </a:solidFill>
                <a:latin typeface="Arial"/>
                <a:ea typeface="Arial"/>
                <a:cs typeface="Arial"/>
                <a:sym typeface="Arial"/>
              </a:rPr>
              <a:t>Integración final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9912096" y="4828032"/>
            <a:ext cx="1243584" cy="310896"/>
          </a:xfrm>
          <a:prstGeom prst="roundRect">
            <a:avLst>
              <a:gd fmla="val 35294" name="adj"/>
            </a:avLst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8"/>
          <p:cNvSpPr/>
          <p:nvPr/>
        </p:nvSpPr>
        <p:spPr>
          <a:xfrm>
            <a:off x="9985248" y="4892040"/>
            <a:ext cx="109728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4E78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1F4E78"/>
                </a:solidFill>
                <a:latin typeface="Arial"/>
                <a:ea typeface="Arial"/>
                <a:cs typeface="Arial"/>
                <a:sym typeface="Arial"/>
              </a:rPr>
              <a:t>Backlog y ceremonias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868680" y="5897880"/>
            <a:ext cx="996696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Clave para la evaluación individual: cada actividad debe tener un responsable primario identificable, aunque exista colaboración.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8"/>
          <p:cNvSpPr txBox="1"/>
          <p:nvPr>
            <p:ph idx="4294967295" type="sldNum"/>
          </p:nvPr>
        </p:nvSpPr>
        <p:spPr>
          <a:xfrm>
            <a:off x="11384280" y="651052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B879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9"/>
          <p:cNvSpPr/>
          <p:nvPr/>
        </p:nvSpPr>
        <p:spPr>
          <a:xfrm>
            <a:off x="566928" y="594360"/>
            <a:ext cx="10972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7324D"/>
                </a:solidFill>
                <a:latin typeface="Play"/>
                <a:ea typeface="Play"/>
                <a:cs typeface="Play"/>
                <a:sym typeface="Play"/>
              </a:rPr>
              <a:t>Plazos y temporalidad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585216" y="1069848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6B7280"/>
                </a:solidFill>
              </a:rPr>
              <a:t>El proyecto contempla 18 semanas académicas, con 10 sprints semanales de desarrollo y etapas posteriores de estabilización, documentación y cierre 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2423160" y="1600200"/>
            <a:ext cx="477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28" name="Google Shape;328;p9"/>
          <p:cNvCxnSpPr/>
          <p:nvPr/>
        </p:nvCxnSpPr>
        <p:spPr>
          <a:xfrm>
            <a:off x="2423160" y="1847088"/>
            <a:ext cx="0" cy="3383280"/>
          </a:xfrm>
          <a:prstGeom prst="straightConnector1">
            <a:avLst/>
          </a:prstGeom>
          <a:noFill/>
          <a:ln cap="flat" cmpd="sng" w="10150">
            <a:solidFill>
              <a:srgbClr val="E5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29" name="Google Shape;329;p9"/>
          <p:cNvSpPr/>
          <p:nvPr/>
        </p:nvSpPr>
        <p:spPr>
          <a:xfrm>
            <a:off x="2900680" y="1600200"/>
            <a:ext cx="477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0" name="Google Shape;330;p9"/>
          <p:cNvCxnSpPr/>
          <p:nvPr/>
        </p:nvCxnSpPr>
        <p:spPr>
          <a:xfrm>
            <a:off x="2900680" y="1847088"/>
            <a:ext cx="0" cy="3383280"/>
          </a:xfrm>
          <a:prstGeom prst="straightConnector1">
            <a:avLst/>
          </a:prstGeom>
          <a:noFill/>
          <a:ln cap="flat" cmpd="sng" w="10150">
            <a:solidFill>
              <a:srgbClr val="E5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1" name="Google Shape;331;p9"/>
          <p:cNvSpPr/>
          <p:nvPr/>
        </p:nvSpPr>
        <p:spPr>
          <a:xfrm>
            <a:off x="3378200" y="1600200"/>
            <a:ext cx="477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2" name="Google Shape;332;p9"/>
          <p:cNvCxnSpPr/>
          <p:nvPr/>
        </p:nvCxnSpPr>
        <p:spPr>
          <a:xfrm>
            <a:off x="3378200" y="1847088"/>
            <a:ext cx="0" cy="3383280"/>
          </a:xfrm>
          <a:prstGeom prst="straightConnector1">
            <a:avLst/>
          </a:prstGeom>
          <a:noFill/>
          <a:ln cap="flat" cmpd="sng" w="10150">
            <a:solidFill>
              <a:srgbClr val="E5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3" name="Google Shape;333;p9"/>
          <p:cNvSpPr/>
          <p:nvPr/>
        </p:nvSpPr>
        <p:spPr>
          <a:xfrm>
            <a:off x="3855720" y="1600200"/>
            <a:ext cx="477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4" name="Google Shape;334;p9"/>
          <p:cNvCxnSpPr/>
          <p:nvPr/>
        </p:nvCxnSpPr>
        <p:spPr>
          <a:xfrm>
            <a:off x="3855720" y="1847088"/>
            <a:ext cx="0" cy="3383280"/>
          </a:xfrm>
          <a:prstGeom prst="straightConnector1">
            <a:avLst/>
          </a:prstGeom>
          <a:noFill/>
          <a:ln cap="flat" cmpd="sng" w="10150">
            <a:solidFill>
              <a:srgbClr val="E5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5" name="Google Shape;335;p9"/>
          <p:cNvSpPr/>
          <p:nvPr/>
        </p:nvSpPr>
        <p:spPr>
          <a:xfrm>
            <a:off x="4333240" y="1600200"/>
            <a:ext cx="477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6" name="Google Shape;336;p9"/>
          <p:cNvCxnSpPr/>
          <p:nvPr/>
        </p:nvCxnSpPr>
        <p:spPr>
          <a:xfrm>
            <a:off x="4333240" y="1847088"/>
            <a:ext cx="0" cy="3383280"/>
          </a:xfrm>
          <a:prstGeom prst="straightConnector1">
            <a:avLst/>
          </a:prstGeom>
          <a:noFill/>
          <a:ln cap="flat" cmpd="sng" w="10150">
            <a:solidFill>
              <a:srgbClr val="E5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7" name="Google Shape;337;p9"/>
          <p:cNvSpPr/>
          <p:nvPr/>
        </p:nvSpPr>
        <p:spPr>
          <a:xfrm>
            <a:off x="4810760" y="1600200"/>
            <a:ext cx="477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38" name="Google Shape;338;p9"/>
          <p:cNvCxnSpPr/>
          <p:nvPr/>
        </p:nvCxnSpPr>
        <p:spPr>
          <a:xfrm>
            <a:off x="4810760" y="1847088"/>
            <a:ext cx="0" cy="3383280"/>
          </a:xfrm>
          <a:prstGeom prst="straightConnector1">
            <a:avLst/>
          </a:prstGeom>
          <a:noFill/>
          <a:ln cap="flat" cmpd="sng" w="10150">
            <a:solidFill>
              <a:srgbClr val="E5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9" name="Google Shape;339;p9"/>
          <p:cNvSpPr/>
          <p:nvPr/>
        </p:nvSpPr>
        <p:spPr>
          <a:xfrm>
            <a:off x="5288280" y="1600200"/>
            <a:ext cx="477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0" name="Google Shape;340;p9"/>
          <p:cNvCxnSpPr/>
          <p:nvPr/>
        </p:nvCxnSpPr>
        <p:spPr>
          <a:xfrm>
            <a:off x="5288280" y="1847088"/>
            <a:ext cx="0" cy="3383280"/>
          </a:xfrm>
          <a:prstGeom prst="straightConnector1">
            <a:avLst/>
          </a:prstGeom>
          <a:noFill/>
          <a:ln cap="flat" cmpd="sng" w="10150">
            <a:solidFill>
              <a:srgbClr val="E5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1" name="Google Shape;341;p9"/>
          <p:cNvSpPr/>
          <p:nvPr/>
        </p:nvSpPr>
        <p:spPr>
          <a:xfrm>
            <a:off x="5765800" y="1600200"/>
            <a:ext cx="477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2" name="Google Shape;342;p9"/>
          <p:cNvCxnSpPr/>
          <p:nvPr/>
        </p:nvCxnSpPr>
        <p:spPr>
          <a:xfrm>
            <a:off x="5765800" y="1847088"/>
            <a:ext cx="0" cy="3383280"/>
          </a:xfrm>
          <a:prstGeom prst="straightConnector1">
            <a:avLst/>
          </a:prstGeom>
          <a:noFill/>
          <a:ln cap="flat" cmpd="sng" w="10150">
            <a:solidFill>
              <a:srgbClr val="E5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3" name="Google Shape;343;p9"/>
          <p:cNvSpPr/>
          <p:nvPr/>
        </p:nvSpPr>
        <p:spPr>
          <a:xfrm>
            <a:off x="6243320" y="1600200"/>
            <a:ext cx="477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4" name="Google Shape;344;p9"/>
          <p:cNvCxnSpPr/>
          <p:nvPr/>
        </p:nvCxnSpPr>
        <p:spPr>
          <a:xfrm>
            <a:off x="6243320" y="1847088"/>
            <a:ext cx="0" cy="3383280"/>
          </a:xfrm>
          <a:prstGeom prst="straightConnector1">
            <a:avLst/>
          </a:prstGeom>
          <a:noFill/>
          <a:ln cap="flat" cmpd="sng" w="10150">
            <a:solidFill>
              <a:srgbClr val="E5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5" name="Google Shape;345;p9"/>
          <p:cNvSpPr/>
          <p:nvPr/>
        </p:nvSpPr>
        <p:spPr>
          <a:xfrm>
            <a:off x="6720840" y="1600200"/>
            <a:ext cx="477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346;p9"/>
          <p:cNvCxnSpPr/>
          <p:nvPr/>
        </p:nvCxnSpPr>
        <p:spPr>
          <a:xfrm>
            <a:off x="6720840" y="1847088"/>
            <a:ext cx="0" cy="3383280"/>
          </a:xfrm>
          <a:prstGeom prst="straightConnector1">
            <a:avLst/>
          </a:prstGeom>
          <a:noFill/>
          <a:ln cap="flat" cmpd="sng" w="10150">
            <a:solidFill>
              <a:srgbClr val="E5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7" name="Google Shape;347;p9"/>
          <p:cNvSpPr/>
          <p:nvPr/>
        </p:nvSpPr>
        <p:spPr>
          <a:xfrm>
            <a:off x="7198360" y="1600200"/>
            <a:ext cx="477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8" name="Google Shape;348;p9"/>
          <p:cNvCxnSpPr/>
          <p:nvPr/>
        </p:nvCxnSpPr>
        <p:spPr>
          <a:xfrm>
            <a:off x="7198360" y="1847088"/>
            <a:ext cx="0" cy="3383280"/>
          </a:xfrm>
          <a:prstGeom prst="straightConnector1">
            <a:avLst/>
          </a:prstGeom>
          <a:noFill/>
          <a:ln cap="flat" cmpd="sng" w="10150">
            <a:solidFill>
              <a:srgbClr val="E5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9" name="Google Shape;349;p9"/>
          <p:cNvSpPr/>
          <p:nvPr/>
        </p:nvSpPr>
        <p:spPr>
          <a:xfrm>
            <a:off x="7675880" y="1600200"/>
            <a:ext cx="477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0" name="Google Shape;350;p9"/>
          <p:cNvCxnSpPr/>
          <p:nvPr/>
        </p:nvCxnSpPr>
        <p:spPr>
          <a:xfrm>
            <a:off x="7675880" y="1847088"/>
            <a:ext cx="0" cy="3383280"/>
          </a:xfrm>
          <a:prstGeom prst="straightConnector1">
            <a:avLst/>
          </a:prstGeom>
          <a:noFill/>
          <a:ln cap="flat" cmpd="sng" w="10150">
            <a:solidFill>
              <a:srgbClr val="E5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1" name="Google Shape;351;p9"/>
          <p:cNvSpPr/>
          <p:nvPr/>
        </p:nvSpPr>
        <p:spPr>
          <a:xfrm>
            <a:off x="8153400" y="1600200"/>
            <a:ext cx="477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2" name="Google Shape;352;p9"/>
          <p:cNvCxnSpPr/>
          <p:nvPr/>
        </p:nvCxnSpPr>
        <p:spPr>
          <a:xfrm>
            <a:off x="8153400" y="1847088"/>
            <a:ext cx="0" cy="3383280"/>
          </a:xfrm>
          <a:prstGeom prst="straightConnector1">
            <a:avLst/>
          </a:prstGeom>
          <a:noFill/>
          <a:ln cap="flat" cmpd="sng" w="10150">
            <a:solidFill>
              <a:srgbClr val="E5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3" name="Google Shape;353;p9"/>
          <p:cNvSpPr/>
          <p:nvPr/>
        </p:nvSpPr>
        <p:spPr>
          <a:xfrm>
            <a:off x="8630920" y="1600200"/>
            <a:ext cx="477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4" name="Google Shape;354;p9"/>
          <p:cNvCxnSpPr/>
          <p:nvPr/>
        </p:nvCxnSpPr>
        <p:spPr>
          <a:xfrm>
            <a:off x="8630920" y="1847088"/>
            <a:ext cx="0" cy="3383280"/>
          </a:xfrm>
          <a:prstGeom prst="straightConnector1">
            <a:avLst/>
          </a:prstGeom>
          <a:noFill/>
          <a:ln cap="flat" cmpd="sng" w="10150">
            <a:solidFill>
              <a:srgbClr val="E5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5" name="Google Shape;355;p9"/>
          <p:cNvSpPr/>
          <p:nvPr/>
        </p:nvSpPr>
        <p:spPr>
          <a:xfrm>
            <a:off x="9108440" y="1600200"/>
            <a:ext cx="477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15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6" name="Google Shape;356;p9"/>
          <p:cNvCxnSpPr/>
          <p:nvPr/>
        </p:nvCxnSpPr>
        <p:spPr>
          <a:xfrm>
            <a:off x="9108440" y="1847088"/>
            <a:ext cx="0" cy="3383280"/>
          </a:xfrm>
          <a:prstGeom prst="straightConnector1">
            <a:avLst/>
          </a:prstGeom>
          <a:noFill/>
          <a:ln cap="flat" cmpd="sng" w="10150">
            <a:solidFill>
              <a:srgbClr val="E5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7" name="Google Shape;357;p9"/>
          <p:cNvSpPr/>
          <p:nvPr/>
        </p:nvSpPr>
        <p:spPr>
          <a:xfrm>
            <a:off x="9585960" y="1600200"/>
            <a:ext cx="477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16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8" name="Google Shape;358;p9"/>
          <p:cNvCxnSpPr/>
          <p:nvPr/>
        </p:nvCxnSpPr>
        <p:spPr>
          <a:xfrm>
            <a:off x="9585960" y="1847088"/>
            <a:ext cx="0" cy="3383280"/>
          </a:xfrm>
          <a:prstGeom prst="straightConnector1">
            <a:avLst/>
          </a:prstGeom>
          <a:noFill/>
          <a:ln cap="flat" cmpd="sng" w="10150">
            <a:solidFill>
              <a:srgbClr val="E5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9" name="Google Shape;359;p9"/>
          <p:cNvSpPr/>
          <p:nvPr/>
        </p:nvSpPr>
        <p:spPr>
          <a:xfrm>
            <a:off x="10063480" y="1600200"/>
            <a:ext cx="477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17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0" name="Google Shape;360;p9"/>
          <p:cNvCxnSpPr/>
          <p:nvPr/>
        </p:nvCxnSpPr>
        <p:spPr>
          <a:xfrm>
            <a:off x="10063480" y="1847088"/>
            <a:ext cx="0" cy="3383280"/>
          </a:xfrm>
          <a:prstGeom prst="straightConnector1">
            <a:avLst/>
          </a:prstGeom>
          <a:noFill/>
          <a:ln cap="flat" cmpd="sng" w="10150">
            <a:solidFill>
              <a:srgbClr val="E5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" name="Google Shape;361;p9"/>
          <p:cNvSpPr/>
          <p:nvPr/>
        </p:nvSpPr>
        <p:spPr>
          <a:xfrm>
            <a:off x="10541000" y="1600200"/>
            <a:ext cx="4775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820"/>
              <a:buFont typeface="Arial"/>
              <a:buNone/>
            </a:pPr>
            <a:r>
              <a:rPr b="0" i="0" lang="en-US" sz="82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b="0" i="0" sz="82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62" name="Google Shape;362;p9"/>
          <p:cNvCxnSpPr/>
          <p:nvPr/>
        </p:nvCxnSpPr>
        <p:spPr>
          <a:xfrm>
            <a:off x="10541000" y="1847088"/>
            <a:ext cx="0" cy="3383280"/>
          </a:xfrm>
          <a:prstGeom prst="straightConnector1">
            <a:avLst/>
          </a:prstGeom>
          <a:noFill/>
          <a:ln cap="flat" cmpd="sng" w="10150">
            <a:solidFill>
              <a:srgbClr val="E5EAF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3" name="Google Shape;363;p9"/>
          <p:cNvSpPr/>
          <p:nvPr/>
        </p:nvSpPr>
        <p:spPr>
          <a:xfrm>
            <a:off x="658368" y="1993392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980"/>
              <a:buFont typeface="Arial"/>
              <a:buNone/>
            </a:pPr>
            <a:r>
              <a:rPr b="1" i="0" lang="en-US" sz="98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Requerimientos + UX/UI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9"/>
          <p:cNvSpPr/>
          <p:nvPr/>
        </p:nvSpPr>
        <p:spPr>
          <a:xfrm>
            <a:off x="2423160" y="1993392"/>
            <a:ext cx="955040" cy="256032"/>
          </a:xfrm>
          <a:prstGeom prst="roundRect">
            <a:avLst>
              <a:gd fmla="val 28571" name="adj"/>
            </a:avLst>
          </a:prstGeom>
          <a:solidFill>
            <a:srgbClr val="2F75B5"/>
          </a:solidFill>
          <a:ln cap="flat" cmpd="sng" w="12700">
            <a:solidFill>
              <a:srgbClr val="2F75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9"/>
          <p:cNvSpPr/>
          <p:nvPr/>
        </p:nvSpPr>
        <p:spPr>
          <a:xfrm>
            <a:off x="658368" y="2432304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980"/>
              <a:buFont typeface="Arial"/>
              <a:buNone/>
            </a:pPr>
            <a:r>
              <a:rPr b="1" i="0" lang="en-US" sz="98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Arquitectura + componentes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9"/>
          <p:cNvSpPr/>
          <p:nvPr/>
        </p:nvSpPr>
        <p:spPr>
          <a:xfrm>
            <a:off x="2900680" y="2432304"/>
            <a:ext cx="955040" cy="256032"/>
          </a:xfrm>
          <a:prstGeom prst="roundRect">
            <a:avLst>
              <a:gd fmla="val 28571" name="adj"/>
            </a:avLst>
          </a:prstGeom>
          <a:solidFill>
            <a:srgbClr val="6C63A8"/>
          </a:solidFill>
          <a:ln cap="flat" cmpd="sng" w="12700">
            <a:solidFill>
              <a:srgbClr val="6C63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9"/>
          <p:cNvSpPr/>
          <p:nvPr/>
        </p:nvSpPr>
        <p:spPr>
          <a:xfrm>
            <a:off x="658368" y="2871216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980"/>
              <a:buFont typeface="Arial"/>
              <a:buNone/>
            </a:pPr>
            <a:r>
              <a:rPr b="1" i="0" lang="en-US" sz="98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Resumen + Comercial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9"/>
          <p:cNvSpPr/>
          <p:nvPr/>
        </p:nvSpPr>
        <p:spPr>
          <a:xfrm>
            <a:off x="3855720" y="2871216"/>
            <a:ext cx="955040" cy="256032"/>
          </a:xfrm>
          <a:prstGeom prst="roundRect">
            <a:avLst>
              <a:gd fmla="val 28571" name="adj"/>
            </a:avLst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9"/>
          <p:cNvSpPr/>
          <p:nvPr/>
        </p:nvSpPr>
        <p:spPr>
          <a:xfrm>
            <a:off x="658368" y="3310128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980"/>
              <a:buFont typeface="Arial"/>
              <a:buNone/>
            </a:pPr>
            <a:r>
              <a:rPr b="1" i="0" lang="en-US" sz="98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Contenido + Planes + Usuarios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9"/>
          <p:cNvSpPr/>
          <p:nvPr/>
        </p:nvSpPr>
        <p:spPr>
          <a:xfrm>
            <a:off x="4810760" y="3310128"/>
            <a:ext cx="955040" cy="256032"/>
          </a:xfrm>
          <a:prstGeom prst="roundRect">
            <a:avLst>
              <a:gd fmla="val 28571" name="adj"/>
            </a:avLst>
          </a:prstGeom>
          <a:solidFill>
            <a:srgbClr val="2E8B57"/>
          </a:solidFill>
          <a:ln cap="flat" cmpd="sng" w="12700">
            <a:solidFill>
              <a:srgbClr val="2E8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9"/>
          <p:cNvSpPr/>
          <p:nvPr/>
        </p:nvSpPr>
        <p:spPr>
          <a:xfrm>
            <a:off x="658368" y="3749040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980"/>
              <a:buFont typeface="Arial"/>
              <a:buNone/>
            </a:pPr>
            <a:r>
              <a:rPr b="1" i="0" lang="en-US" sz="98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Operativa + Sponsors + Tutores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9"/>
          <p:cNvSpPr/>
          <p:nvPr/>
        </p:nvSpPr>
        <p:spPr>
          <a:xfrm>
            <a:off x="5765800" y="3749040"/>
            <a:ext cx="955040" cy="256032"/>
          </a:xfrm>
          <a:prstGeom prst="roundRect">
            <a:avLst>
              <a:gd fmla="val 28571" name="adj"/>
            </a:avLst>
          </a:prstGeom>
          <a:solidFill>
            <a:srgbClr val="5BC0EB"/>
          </a:solidFill>
          <a:ln cap="flat" cmpd="sng" w="12700">
            <a:solidFill>
              <a:srgbClr val="5BC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9"/>
          <p:cNvSpPr/>
          <p:nvPr/>
        </p:nvSpPr>
        <p:spPr>
          <a:xfrm>
            <a:off x="658368" y="4187952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Integración API + pruebas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4" name="Google Shape;374;p9"/>
          <p:cNvSpPr/>
          <p:nvPr/>
        </p:nvSpPr>
        <p:spPr>
          <a:xfrm>
            <a:off x="6720840" y="4187952"/>
            <a:ext cx="1910080" cy="256032"/>
          </a:xfrm>
          <a:prstGeom prst="roundRect">
            <a:avLst>
              <a:gd fmla="val 28571" name="adj"/>
            </a:avLst>
          </a:prstGeom>
          <a:solidFill>
            <a:srgbClr val="1F4E78"/>
          </a:solidFill>
          <a:ln cap="flat" cmpd="sng" w="12700">
            <a:solidFill>
              <a:srgbClr val="1F4E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9"/>
          <p:cNvSpPr/>
          <p:nvPr/>
        </p:nvSpPr>
        <p:spPr>
          <a:xfrm>
            <a:off x="658368" y="4626864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Optimización + despliegue + UX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9"/>
          <p:cNvSpPr/>
          <p:nvPr/>
        </p:nvSpPr>
        <p:spPr>
          <a:xfrm>
            <a:off x="8630920" y="4626864"/>
            <a:ext cx="1432560" cy="256032"/>
          </a:xfrm>
          <a:prstGeom prst="roundRect">
            <a:avLst>
              <a:gd fmla="val 28571" name="adj"/>
            </a:avLst>
          </a:prstGeom>
          <a:solidFill>
            <a:srgbClr val="C94C4C"/>
          </a:solidFill>
          <a:ln cap="flat" cmpd="sng" w="12700">
            <a:solidFill>
              <a:srgbClr val="C9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9"/>
          <p:cNvSpPr/>
          <p:nvPr/>
        </p:nvSpPr>
        <p:spPr>
          <a:xfrm>
            <a:off x="658368" y="5065776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Documentación + cierre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9"/>
          <p:cNvSpPr/>
          <p:nvPr/>
        </p:nvSpPr>
        <p:spPr>
          <a:xfrm>
            <a:off x="10063480" y="5065776"/>
            <a:ext cx="955040" cy="256032"/>
          </a:xfrm>
          <a:prstGeom prst="roundRect">
            <a:avLst>
              <a:gd fmla="val 28571" name="adj"/>
            </a:avLst>
          </a:prstGeom>
          <a:solidFill>
            <a:srgbClr val="7B8794"/>
          </a:solidFill>
          <a:ln cap="flat" cmpd="sng" w="12700">
            <a:solidFill>
              <a:srgbClr val="7B87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9"/>
          <p:cNvSpPr/>
          <p:nvPr/>
        </p:nvSpPr>
        <p:spPr>
          <a:xfrm>
            <a:off x="2423160" y="5596128"/>
            <a:ext cx="1432560" cy="347472"/>
          </a:xfrm>
          <a:prstGeom prst="roundRect">
            <a:avLst>
              <a:gd fmla="val 21053" name="adj"/>
            </a:avLst>
          </a:prstGeom>
          <a:solidFill>
            <a:srgbClr val="DDEEDD"/>
          </a:solidFill>
          <a:ln cap="flat" cmpd="sng" w="12700">
            <a:solidFill>
              <a:srgbClr val="DDEED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9"/>
          <p:cNvSpPr/>
          <p:nvPr/>
        </p:nvSpPr>
        <p:spPr>
          <a:xfrm>
            <a:off x="2423160" y="5687568"/>
            <a:ext cx="14325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56B35"/>
              </a:buClr>
              <a:buSzPts val="880"/>
              <a:buFont typeface="Arial"/>
              <a:buNone/>
            </a:pPr>
            <a:r>
              <a:rPr b="1" i="0" lang="en-US" sz="880" u="none" cap="none" strike="noStrike">
                <a:solidFill>
                  <a:srgbClr val="356B35"/>
                </a:solidFill>
                <a:latin typeface="Arial"/>
                <a:ea typeface="Arial"/>
                <a:cs typeface="Arial"/>
                <a:sym typeface="Arial"/>
              </a:rPr>
              <a:t>FASE 1 · Definición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1" name="Google Shape;381;p9"/>
          <p:cNvSpPr/>
          <p:nvPr/>
        </p:nvSpPr>
        <p:spPr>
          <a:xfrm>
            <a:off x="3855720" y="5596128"/>
            <a:ext cx="6207760" cy="347472"/>
          </a:xfrm>
          <a:prstGeom prst="roundRect">
            <a:avLst>
              <a:gd fmla="val 21053" name="adj"/>
            </a:avLst>
          </a:prstGeom>
          <a:solidFill>
            <a:srgbClr val="FFF0C8"/>
          </a:solidFill>
          <a:ln cap="flat" cmpd="sng" w="12700">
            <a:solidFill>
              <a:srgbClr val="FFF0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9"/>
          <p:cNvSpPr/>
          <p:nvPr/>
        </p:nvSpPr>
        <p:spPr>
          <a:xfrm>
            <a:off x="3855720" y="5687568"/>
            <a:ext cx="620776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6500"/>
              </a:buClr>
              <a:buSzPts val="880"/>
              <a:buFont typeface="Arial"/>
              <a:buNone/>
            </a:pPr>
            <a:r>
              <a:rPr b="1" i="0" lang="en-US" sz="880" u="none" cap="none" strike="noStrike">
                <a:solidFill>
                  <a:srgbClr val="8A6500"/>
                </a:solidFill>
                <a:latin typeface="Arial"/>
                <a:ea typeface="Arial"/>
                <a:cs typeface="Arial"/>
                <a:sym typeface="Arial"/>
              </a:rPr>
              <a:t>FASE 2 · Desarrollo / Avance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9"/>
          <p:cNvSpPr/>
          <p:nvPr/>
        </p:nvSpPr>
        <p:spPr>
          <a:xfrm>
            <a:off x="10063480" y="5596128"/>
            <a:ext cx="955040" cy="347472"/>
          </a:xfrm>
          <a:prstGeom prst="roundRect">
            <a:avLst>
              <a:gd fmla="val 21053" name="adj"/>
            </a:avLst>
          </a:prstGeom>
          <a:solidFill>
            <a:srgbClr val="F3D7CF"/>
          </a:solidFill>
          <a:ln cap="flat" cmpd="sng" w="12700">
            <a:solidFill>
              <a:srgbClr val="F3D7C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9"/>
          <p:cNvSpPr/>
          <p:nvPr/>
        </p:nvSpPr>
        <p:spPr>
          <a:xfrm>
            <a:off x="10063480" y="5687568"/>
            <a:ext cx="955040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3E2D"/>
              </a:buClr>
              <a:buSzPts val="880"/>
              <a:buFont typeface="Arial"/>
              <a:buNone/>
            </a:pPr>
            <a:r>
              <a:rPr b="1" i="0" lang="en-US" sz="880" u="none" cap="none" strike="noStrike">
                <a:solidFill>
                  <a:srgbClr val="8A3E2D"/>
                </a:solidFill>
                <a:latin typeface="Arial"/>
                <a:ea typeface="Arial"/>
                <a:cs typeface="Arial"/>
                <a:sym typeface="Arial"/>
              </a:rPr>
              <a:t>FASE 3</a:t>
            </a:r>
            <a:endParaRPr b="0" i="0" sz="8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9"/>
          <p:cNvSpPr txBox="1"/>
          <p:nvPr>
            <p:ph idx="4294967295" type="sldNum"/>
          </p:nvPr>
        </p:nvSpPr>
        <p:spPr>
          <a:xfrm>
            <a:off x="11384280" y="651052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B879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10"/>
          <p:cNvSpPr/>
          <p:nvPr/>
        </p:nvSpPr>
        <p:spPr>
          <a:xfrm>
            <a:off x="566928" y="594360"/>
            <a:ext cx="10972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7324D"/>
                </a:solidFill>
                <a:latin typeface="Play"/>
                <a:ea typeface="Play"/>
                <a:cs typeface="Play"/>
                <a:sym typeface="Play"/>
              </a:rPr>
              <a:t>Hitos y entregas por etapa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0"/>
          <p:cNvSpPr/>
          <p:nvPr/>
        </p:nvSpPr>
        <p:spPr>
          <a:xfrm>
            <a:off x="585216" y="1069848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Cada bloque debe cerrar con un incremento demostrable, no solo con tareas “en progreso”.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0"/>
          <p:cNvSpPr/>
          <p:nvPr/>
        </p:nvSpPr>
        <p:spPr>
          <a:xfrm>
            <a:off x="713232" y="1481328"/>
            <a:ext cx="5166360" cy="941832"/>
          </a:xfrm>
          <a:prstGeom prst="roundRect">
            <a:avLst>
              <a:gd fmla="val 5825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10"/>
          <p:cNvSpPr/>
          <p:nvPr/>
        </p:nvSpPr>
        <p:spPr>
          <a:xfrm>
            <a:off x="877824" y="1645920"/>
            <a:ext cx="822960" cy="292608"/>
          </a:xfrm>
          <a:prstGeom prst="roundRect">
            <a:avLst>
              <a:gd fmla="val 31250" name="adj"/>
            </a:avLst>
          </a:prstGeom>
          <a:solidFill>
            <a:srgbClr val="2F75B5"/>
          </a:solidFill>
          <a:ln cap="flat" cmpd="sng" w="12700">
            <a:solidFill>
              <a:srgbClr val="2F75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0"/>
          <p:cNvSpPr/>
          <p:nvPr/>
        </p:nvSpPr>
        <p:spPr>
          <a:xfrm>
            <a:off x="914400" y="1719072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</a:rPr>
              <a:t>Sprint 1–2 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0"/>
          <p:cNvSpPr/>
          <p:nvPr/>
        </p:nvSpPr>
        <p:spPr>
          <a:xfrm>
            <a:off x="1883664" y="1627632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7324D"/>
                </a:solidFill>
              </a:rPr>
              <a:t>Requerimientos y UX/UI  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0"/>
          <p:cNvSpPr/>
          <p:nvPr/>
        </p:nvSpPr>
        <p:spPr>
          <a:xfrm>
            <a:off x="1883664" y="1920240"/>
            <a:ext cx="3703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030"/>
              <a:buFont typeface="Arial"/>
              <a:buNone/>
            </a:pPr>
            <a:r>
              <a:rPr lang="en-US" sz="1030">
                <a:solidFill>
                  <a:srgbClr val="334E68"/>
                </a:solidFill>
              </a:rPr>
              <a:t>Flujos, wireframes, backlog inicial y contrato API base. 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0"/>
          <p:cNvSpPr/>
          <p:nvPr/>
        </p:nvSpPr>
        <p:spPr>
          <a:xfrm>
            <a:off x="6199632" y="1481328"/>
            <a:ext cx="5166360" cy="941832"/>
          </a:xfrm>
          <a:prstGeom prst="roundRect">
            <a:avLst>
              <a:gd fmla="val 5825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0"/>
          <p:cNvSpPr/>
          <p:nvPr/>
        </p:nvSpPr>
        <p:spPr>
          <a:xfrm>
            <a:off x="6364224" y="1645920"/>
            <a:ext cx="822960" cy="292608"/>
          </a:xfrm>
          <a:prstGeom prst="roundRect">
            <a:avLst>
              <a:gd fmla="val 31250" name="adj"/>
            </a:avLst>
          </a:prstGeom>
          <a:solidFill>
            <a:srgbClr val="6C63A8"/>
          </a:solidFill>
          <a:ln cap="flat" cmpd="sng" w="12700">
            <a:solidFill>
              <a:srgbClr val="6C63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10"/>
          <p:cNvSpPr/>
          <p:nvPr/>
        </p:nvSpPr>
        <p:spPr>
          <a:xfrm>
            <a:off x="6400800" y="1719072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</a:rPr>
              <a:t>Sprint 2–3 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1" name="Google Shape;401;p10"/>
          <p:cNvSpPr/>
          <p:nvPr/>
        </p:nvSpPr>
        <p:spPr>
          <a:xfrm>
            <a:off x="7370077" y="1627625"/>
            <a:ext cx="233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7324D"/>
                </a:solidFill>
              </a:rPr>
              <a:t>Arquitectura y componentes  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0"/>
          <p:cNvSpPr/>
          <p:nvPr/>
        </p:nvSpPr>
        <p:spPr>
          <a:xfrm>
            <a:off x="7370064" y="1920240"/>
            <a:ext cx="3703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030"/>
              <a:buFont typeface="Arial"/>
              <a:buNone/>
            </a:pPr>
            <a:r>
              <a:rPr lang="en-US" sz="1030">
                <a:solidFill>
                  <a:srgbClr val="334E68"/>
                </a:solidFill>
              </a:rPr>
              <a:t>React/Vite, routing, sesión, RBAC cliente y componentes reutilizables. 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0"/>
          <p:cNvSpPr/>
          <p:nvPr/>
        </p:nvSpPr>
        <p:spPr>
          <a:xfrm>
            <a:off x="713232" y="2688336"/>
            <a:ext cx="5166360" cy="941832"/>
          </a:xfrm>
          <a:prstGeom prst="roundRect">
            <a:avLst>
              <a:gd fmla="val 5825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0"/>
          <p:cNvSpPr/>
          <p:nvPr/>
        </p:nvSpPr>
        <p:spPr>
          <a:xfrm>
            <a:off x="877824" y="2852928"/>
            <a:ext cx="822960" cy="292608"/>
          </a:xfrm>
          <a:prstGeom prst="roundRect">
            <a:avLst>
              <a:gd fmla="val 31250" name="adj"/>
            </a:avLst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0"/>
          <p:cNvSpPr/>
          <p:nvPr/>
        </p:nvSpPr>
        <p:spPr>
          <a:xfrm>
            <a:off x="914400" y="29260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</a:rPr>
              <a:t>Sprint 4–5 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0"/>
          <p:cNvSpPr/>
          <p:nvPr/>
        </p:nvSpPr>
        <p:spPr>
          <a:xfrm>
            <a:off x="1883664" y="283464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7324D"/>
                </a:solidFill>
              </a:rPr>
              <a:t>Métricas y comercial 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0"/>
          <p:cNvSpPr/>
          <p:nvPr/>
        </p:nvSpPr>
        <p:spPr>
          <a:xfrm>
            <a:off x="1883664" y="3127248"/>
            <a:ext cx="3703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030"/>
              <a:buFont typeface="Arial"/>
              <a:buNone/>
            </a:pPr>
            <a:r>
              <a:rPr lang="en-US" sz="1030">
                <a:solidFill>
                  <a:srgbClr val="334E68"/>
                </a:solidFill>
              </a:rPr>
              <a:t>Resumen, Comercial, dashboards y exportación CSV.  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0"/>
          <p:cNvSpPr/>
          <p:nvPr/>
        </p:nvSpPr>
        <p:spPr>
          <a:xfrm>
            <a:off x="6199632" y="2688336"/>
            <a:ext cx="5166360" cy="941832"/>
          </a:xfrm>
          <a:prstGeom prst="roundRect">
            <a:avLst>
              <a:gd fmla="val 5825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0"/>
          <p:cNvSpPr/>
          <p:nvPr/>
        </p:nvSpPr>
        <p:spPr>
          <a:xfrm>
            <a:off x="6364224" y="2852928"/>
            <a:ext cx="822960" cy="292608"/>
          </a:xfrm>
          <a:prstGeom prst="roundRect">
            <a:avLst>
              <a:gd fmla="val 31250" name="adj"/>
            </a:avLst>
          </a:prstGeom>
          <a:solidFill>
            <a:srgbClr val="2E8B57"/>
          </a:solidFill>
          <a:ln cap="flat" cmpd="sng" w="12700">
            <a:solidFill>
              <a:srgbClr val="2E8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10"/>
          <p:cNvSpPr/>
          <p:nvPr/>
        </p:nvSpPr>
        <p:spPr>
          <a:xfrm>
            <a:off x="6400800" y="2926080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</a:rPr>
              <a:t>Sprint 6–7 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0"/>
          <p:cNvSpPr/>
          <p:nvPr/>
        </p:nvSpPr>
        <p:spPr>
          <a:xfrm>
            <a:off x="7370064" y="2834640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7324D"/>
                </a:solidFill>
              </a:rPr>
              <a:t>Gestión principal 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10"/>
          <p:cNvSpPr/>
          <p:nvPr/>
        </p:nvSpPr>
        <p:spPr>
          <a:xfrm>
            <a:off x="7370064" y="3127248"/>
            <a:ext cx="3703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030"/>
              <a:buFont typeface="Arial"/>
              <a:buNone/>
            </a:pPr>
            <a:r>
              <a:rPr lang="en-US" sz="1030">
                <a:solidFill>
                  <a:srgbClr val="334E68"/>
                </a:solidFill>
              </a:rPr>
              <a:t>Contenido, Planes y productos, Usuarios y soporte. 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0"/>
          <p:cNvSpPr/>
          <p:nvPr/>
        </p:nvSpPr>
        <p:spPr>
          <a:xfrm>
            <a:off x="713232" y="3895344"/>
            <a:ext cx="5166360" cy="941832"/>
          </a:xfrm>
          <a:prstGeom prst="roundRect">
            <a:avLst>
              <a:gd fmla="val 5825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4" name="Google Shape;414;p10"/>
          <p:cNvSpPr/>
          <p:nvPr/>
        </p:nvSpPr>
        <p:spPr>
          <a:xfrm>
            <a:off x="877824" y="4059936"/>
            <a:ext cx="822960" cy="292608"/>
          </a:xfrm>
          <a:prstGeom prst="roundRect">
            <a:avLst>
              <a:gd fmla="val 31250" name="adj"/>
            </a:avLst>
          </a:prstGeom>
          <a:solidFill>
            <a:srgbClr val="5BC0EB"/>
          </a:solidFill>
          <a:ln cap="flat" cmpd="sng" w="12700">
            <a:solidFill>
              <a:srgbClr val="5BC0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0"/>
          <p:cNvSpPr/>
          <p:nvPr/>
        </p:nvSpPr>
        <p:spPr>
          <a:xfrm>
            <a:off x="1081675" y="4133088"/>
            <a:ext cx="749700" cy="12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</a:rPr>
              <a:t>Sprint 8–9 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0"/>
          <p:cNvSpPr/>
          <p:nvPr/>
        </p:nvSpPr>
        <p:spPr>
          <a:xfrm>
            <a:off x="1883664" y="4041648"/>
            <a:ext cx="19203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7324D"/>
                </a:solidFill>
              </a:rPr>
              <a:t>Operación extendida 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0"/>
          <p:cNvSpPr/>
          <p:nvPr/>
        </p:nvSpPr>
        <p:spPr>
          <a:xfrm>
            <a:off x="1883664" y="4334256"/>
            <a:ext cx="370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030"/>
              <a:buFont typeface="Arial"/>
              <a:buNone/>
            </a:pPr>
            <a:r>
              <a:rPr lang="en-US" sz="1030">
                <a:solidFill>
                  <a:srgbClr val="334E68"/>
                </a:solidFill>
              </a:rPr>
              <a:t>Operativa, Sponsors y Tutores.  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10"/>
          <p:cNvSpPr/>
          <p:nvPr/>
        </p:nvSpPr>
        <p:spPr>
          <a:xfrm>
            <a:off x="6199632" y="3895344"/>
            <a:ext cx="5166360" cy="941832"/>
          </a:xfrm>
          <a:prstGeom prst="roundRect">
            <a:avLst>
              <a:gd fmla="val 5825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0"/>
          <p:cNvSpPr/>
          <p:nvPr/>
        </p:nvSpPr>
        <p:spPr>
          <a:xfrm>
            <a:off x="6364225" y="4059919"/>
            <a:ext cx="956100" cy="475500"/>
          </a:xfrm>
          <a:prstGeom prst="roundRect">
            <a:avLst>
              <a:gd fmla="val 31250" name="adj"/>
            </a:avLst>
          </a:prstGeom>
          <a:solidFill>
            <a:srgbClr val="1F4E78"/>
          </a:solidFill>
          <a:ln cap="flat" cmpd="sng" w="12700">
            <a:solidFill>
              <a:srgbClr val="1F4E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0"/>
          <p:cNvSpPr/>
          <p:nvPr/>
        </p:nvSpPr>
        <p:spPr>
          <a:xfrm>
            <a:off x="6397375" y="4046207"/>
            <a:ext cx="889800" cy="47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</a:rPr>
              <a:t>Sprint 10 + Semanas 11–13  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0"/>
          <p:cNvSpPr/>
          <p:nvPr/>
        </p:nvSpPr>
        <p:spPr>
          <a:xfrm>
            <a:off x="7370064" y="4041648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7324D"/>
                </a:solidFill>
              </a:rPr>
              <a:t>Integración y QA  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0"/>
          <p:cNvSpPr/>
          <p:nvPr/>
        </p:nvSpPr>
        <p:spPr>
          <a:xfrm>
            <a:off x="7370064" y="4334256"/>
            <a:ext cx="3703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030"/>
              <a:buFont typeface="Arial"/>
              <a:buNone/>
            </a:pPr>
            <a:r>
              <a:rPr lang="en-US" sz="1030">
                <a:solidFill>
                  <a:srgbClr val="334E68"/>
                </a:solidFill>
              </a:rPr>
              <a:t>Integración con endpoints reales, manejo de errores, pruebas E2E y correcciones. 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0"/>
          <p:cNvSpPr/>
          <p:nvPr/>
        </p:nvSpPr>
        <p:spPr>
          <a:xfrm>
            <a:off x="713232" y="5102352"/>
            <a:ext cx="5166360" cy="941832"/>
          </a:xfrm>
          <a:prstGeom prst="roundRect">
            <a:avLst>
              <a:gd fmla="val 5825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0"/>
          <p:cNvSpPr/>
          <p:nvPr/>
        </p:nvSpPr>
        <p:spPr>
          <a:xfrm>
            <a:off x="877824" y="5266944"/>
            <a:ext cx="822960" cy="292608"/>
          </a:xfrm>
          <a:prstGeom prst="roundRect">
            <a:avLst>
              <a:gd fmla="val 31250" name="adj"/>
            </a:avLst>
          </a:prstGeom>
          <a:solidFill>
            <a:srgbClr val="C94C4C"/>
          </a:solidFill>
          <a:ln cap="flat" cmpd="sng" w="12700">
            <a:solidFill>
              <a:srgbClr val="C9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10"/>
          <p:cNvSpPr/>
          <p:nvPr/>
        </p:nvSpPr>
        <p:spPr>
          <a:xfrm>
            <a:off x="914400" y="5340096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</a:rPr>
              <a:t>Semanas 14–16 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0"/>
          <p:cNvSpPr/>
          <p:nvPr/>
        </p:nvSpPr>
        <p:spPr>
          <a:xfrm>
            <a:off x="1883678" y="5248650"/>
            <a:ext cx="2514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7324D"/>
                </a:solidFill>
              </a:rPr>
              <a:t>Optimización y entrega técnica 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0"/>
          <p:cNvSpPr/>
          <p:nvPr/>
        </p:nvSpPr>
        <p:spPr>
          <a:xfrm>
            <a:off x="1959839" y="5541239"/>
            <a:ext cx="37032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030"/>
              <a:buFont typeface="Arial"/>
              <a:buNone/>
            </a:pPr>
            <a:r>
              <a:rPr lang="en-US" sz="1030">
                <a:solidFill>
                  <a:schemeClr val="dk1"/>
                </a:solidFill>
              </a:rPr>
              <a:t>Rendimiento, accesibilidad, UX, despliegue, informe de pruebas y manual. 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0"/>
          <p:cNvSpPr/>
          <p:nvPr/>
        </p:nvSpPr>
        <p:spPr>
          <a:xfrm>
            <a:off x="6199632" y="5102352"/>
            <a:ext cx="5166360" cy="941832"/>
          </a:xfrm>
          <a:prstGeom prst="roundRect">
            <a:avLst>
              <a:gd fmla="val 5825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10"/>
          <p:cNvSpPr/>
          <p:nvPr/>
        </p:nvSpPr>
        <p:spPr>
          <a:xfrm>
            <a:off x="6364224" y="5266944"/>
            <a:ext cx="822960" cy="292608"/>
          </a:xfrm>
          <a:prstGeom prst="roundRect">
            <a:avLst>
              <a:gd fmla="val 31250" name="adj"/>
            </a:avLst>
          </a:prstGeom>
          <a:solidFill>
            <a:srgbClr val="7B8794"/>
          </a:solidFill>
          <a:ln cap="flat" cmpd="sng" w="12700">
            <a:solidFill>
              <a:srgbClr val="7B879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10"/>
          <p:cNvSpPr/>
          <p:nvPr/>
        </p:nvSpPr>
        <p:spPr>
          <a:xfrm>
            <a:off x="6400800" y="5340096"/>
            <a:ext cx="749808" cy="12801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b="1" lang="en-US" sz="900">
                <a:solidFill>
                  <a:srgbClr val="FFFFFF"/>
                </a:solidFill>
              </a:rPr>
              <a:t>Semanas 17–18 </a:t>
            </a: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0"/>
          <p:cNvSpPr/>
          <p:nvPr/>
        </p:nvSpPr>
        <p:spPr>
          <a:xfrm>
            <a:off x="7370064" y="5248656"/>
            <a:ext cx="19202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300"/>
              <a:buFont typeface="Arial"/>
              <a:buNone/>
            </a:pPr>
            <a:r>
              <a:rPr b="1" lang="en-US" sz="1300">
                <a:solidFill>
                  <a:srgbClr val="17324D"/>
                </a:solidFill>
              </a:rPr>
              <a:t>Cierre académico </a:t>
            </a:r>
            <a:endParaRPr b="0" i="0" sz="13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0"/>
          <p:cNvSpPr/>
          <p:nvPr/>
        </p:nvSpPr>
        <p:spPr>
          <a:xfrm>
            <a:off x="7370064" y="5541264"/>
            <a:ext cx="37033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030"/>
              <a:buFont typeface="Arial"/>
              <a:buNone/>
            </a:pPr>
            <a:r>
              <a:rPr lang="en-US" sz="1030">
                <a:solidFill>
                  <a:srgbClr val="334E68"/>
                </a:solidFill>
              </a:rPr>
              <a:t>Evidencias finales, presentación y defensa. </a:t>
            </a:r>
            <a:endParaRPr b="0" i="0" sz="10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0"/>
          <p:cNvSpPr txBox="1"/>
          <p:nvPr>
            <p:ph idx="4294967295" type="sldNum"/>
          </p:nvPr>
        </p:nvSpPr>
        <p:spPr>
          <a:xfrm>
            <a:off x="11384280" y="651052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B8794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0"/>
          <p:cNvSpPr txBox="1"/>
          <p:nvPr/>
        </p:nvSpPr>
        <p:spPr>
          <a:xfrm>
            <a:off x="803900" y="6179100"/>
            <a:ext cx="4962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10 sprints de desarrollo dentro de 18 semanas académicas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1"/>
          <p:cNvSpPr/>
          <p:nvPr/>
        </p:nvSpPr>
        <p:spPr>
          <a:xfrm>
            <a:off x="566928" y="594360"/>
            <a:ext cx="10972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7324D"/>
                </a:solidFill>
                <a:latin typeface="Play"/>
                <a:ea typeface="Play"/>
                <a:cs typeface="Play"/>
                <a:sym typeface="Play"/>
              </a:rPr>
              <a:t>Evidencias, entregables y criterios de aceptación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11"/>
          <p:cNvSpPr/>
          <p:nvPr/>
        </p:nvSpPr>
        <p:spPr>
          <a:xfrm>
            <a:off x="585216" y="1069848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El proyecto debe poder demostrarse y evaluarse con artefactos concretos.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11"/>
          <p:cNvSpPr/>
          <p:nvPr/>
        </p:nvSpPr>
        <p:spPr>
          <a:xfrm>
            <a:off x="685800" y="1463040"/>
            <a:ext cx="5577840" cy="64008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1"/>
          <p:cNvSpPr/>
          <p:nvPr/>
        </p:nvSpPr>
        <p:spPr>
          <a:xfrm>
            <a:off x="868680" y="1618488"/>
            <a:ext cx="777240" cy="310896"/>
          </a:xfrm>
          <a:prstGeom prst="roundRect">
            <a:avLst>
              <a:gd fmla="val 35294" name="adj"/>
            </a:avLst>
          </a:prstGeom>
          <a:solidFill>
            <a:srgbClr val="F5F7FA"/>
          </a:solidFill>
          <a:ln cap="flat" cmpd="sng" w="12700">
            <a:solidFill>
              <a:srgbClr val="F5F7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1"/>
          <p:cNvSpPr/>
          <p:nvPr/>
        </p:nvSpPr>
        <p:spPr>
          <a:xfrm>
            <a:off x="941832" y="1682496"/>
            <a:ext cx="6309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F75B5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F75B5"/>
                </a:solidFill>
                <a:latin typeface="Arial"/>
                <a:ea typeface="Arial"/>
                <a:cs typeface="Arial"/>
                <a:sym typeface="Arial"/>
              </a:rPr>
              <a:t>Avance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5" name="Google Shape;445;p11"/>
          <p:cNvSpPr/>
          <p:nvPr/>
        </p:nvSpPr>
        <p:spPr>
          <a:xfrm>
            <a:off x="1783080" y="1581912"/>
            <a:ext cx="21031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230"/>
              <a:buFont typeface="Arial"/>
              <a:buNone/>
            </a:pPr>
            <a:r>
              <a:rPr b="1" i="0" lang="en-US" sz="123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Arquitectura Frontend + contrato API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6" name="Google Shape;446;p11"/>
          <p:cNvSpPr/>
          <p:nvPr/>
        </p:nvSpPr>
        <p:spPr>
          <a:xfrm>
            <a:off x="3931920" y="1572768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Componentes, navegación, permisos y estructuras JSON esperadas.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" name="Google Shape;447;p11"/>
          <p:cNvSpPr/>
          <p:nvPr/>
        </p:nvSpPr>
        <p:spPr>
          <a:xfrm>
            <a:off x="685800" y="2304288"/>
            <a:ext cx="5577840" cy="64008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11"/>
          <p:cNvSpPr/>
          <p:nvPr/>
        </p:nvSpPr>
        <p:spPr>
          <a:xfrm>
            <a:off x="868680" y="2459736"/>
            <a:ext cx="777240" cy="310896"/>
          </a:xfrm>
          <a:prstGeom prst="roundRect">
            <a:avLst>
              <a:gd fmla="val 35294" name="adj"/>
            </a:avLst>
          </a:prstGeom>
          <a:solidFill>
            <a:srgbClr val="F5F7FA"/>
          </a:solidFill>
          <a:ln cap="flat" cmpd="sng" w="12700">
            <a:solidFill>
              <a:srgbClr val="F5F7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11"/>
          <p:cNvSpPr/>
          <p:nvPr/>
        </p:nvSpPr>
        <p:spPr>
          <a:xfrm>
            <a:off x="941832" y="2523744"/>
            <a:ext cx="6309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C63A8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6C63A8"/>
                </a:solidFill>
                <a:latin typeface="Arial"/>
                <a:ea typeface="Arial"/>
                <a:cs typeface="Arial"/>
                <a:sym typeface="Arial"/>
              </a:rPr>
              <a:t>Avance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0" name="Google Shape;450;p11"/>
          <p:cNvSpPr/>
          <p:nvPr/>
        </p:nvSpPr>
        <p:spPr>
          <a:xfrm>
            <a:off x="1783080" y="2423160"/>
            <a:ext cx="21031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230"/>
              <a:buFont typeface="Arial"/>
              <a:buNone/>
            </a:pPr>
            <a:r>
              <a:rPr b="1" i="0" lang="en-US" sz="123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Prototipo funcional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1"/>
          <p:cNvSpPr/>
          <p:nvPr/>
        </p:nvSpPr>
        <p:spPr>
          <a:xfrm>
            <a:off x="3931920" y="2414016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Login/MFA, sesión, rutas protegidas y SPA con mocks.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2" name="Google Shape;452;p11"/>
          <p:cNvSpPr/>
          <p:nvPr/>
        </p:nvSpPr>
        <p:spPr>
          <a:xfrm>
            <a:off x="685800" y="3145536"/>
            <a:ext cx="5577840" cy="64008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11"/>
          <p:cNvSpPr/>
          <p:nvPr/>
        </p:nvSpPr>
        <p:spPr>
          <a:xfrm>
            <a:off x="868680" y="3300984"/>
            <a:ext cx="777240" cy="310896"/>
          </a:xfrm>
          <a:prstGeom prst="roundRect">
            <a:avLst>
              <a:gd fmla="val 35294" name="adj"/>
            </a:avLst>
          </a:prstGeom>
          <a:solidFill>
            <a:srgbClr val="F5F7FA"/>
          </a:solidFill>
          <a:ln cap="flat" cmpd="sng" w="12700">
            <a:solidFill>
              <a:srgbClr val="F5F7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11"/>
          <p:cNvSpPr/>
          <p:nvPr/>
        </p:nvSpPr>
        <p:spPr>
          <a:xfrm>
            <a:off x="941832" y="3364992"/>
            <a:ext cx="6309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8B57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E8B57"/>
                </a:solidFill>
                <a:latin typeface="Arial"/>
                <a:ea typeface="Arial"/>
                <a:cs typeface="Arial"/>
                <a:sym typeface="Arial"/>
              </a:rPr>
              <a:t>Final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5" name="Google Shape;455;p11"/>
          <p:cNvSpPr/>
          <p:nvPr/>
        </p:nvSpPr>
        <p:spPr>
          <a:xfrm>
            <a:off x="1783080" y="3264408"/>
            <a:ext cx="21031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230"/>
              <a:buFont typeface="Arial"/>
              <a:buNone/>
            </a:pPr>
            <a:r>
              <a:rPr b="1" i="0" lang="en-US" sz="123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Código fuente de la consola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6" name="Google Shape;456;p11"/>
          <p:cNvSpPr/>
          <p:nvPr/>
        </p:nvSpPr>
        <p:spPr>
          <a:xfrm>
            <a:off x="3931920" y="3255264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Ocho módulos integrados, i18n y temas.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685800" y="3986784"/>
            <a:ext cx="5577840" cy="64008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8" name="Google Shape;458;p11"/>
          <p:cNvSpPr/>
          <p:nvPr/>
        </p:nvSpPr>
        <p:spPr>
          <a:xfrm>
            <a:off x="868680" y="4142232"/>
            <a:ext cx="777240" cy="310896"/>
          </a:xfrm>
          <a:prstGeom prst="roundRect">
            <a:avLst>
              <a:gd fmla="val 35294" name="adj"/>
            </a:avLst>
          </a:prstGeom>
          <a:solidFill>
            <a:srgbClr val="F5F7FA"/>
          </a:solidFill>
          <a:ln cap="flat" cmpd="sng" w="12700">
            <a:solidFill>
              <a:srgbClr val="F5F7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1"/>
          <p:cNvSpPr/>
          <p:nvPr/>
        </p:nvSpPr>
        <p:spPr>
          <a:xfrm>
            <a:off x="941832" y="4206240"/>
            <a:ext cx="6309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4C4C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C94C4C"/>
                </a:solidFill>
                <a:latin typeface="Arial"/>
                <a:ea typeface="Arial"/>
                <a:cs typeface="Arial"/>
                <a:sym typeface="Arial"/>
              </a:rPr>
              <a:t>Final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0" name="Google Shape;460;p11"/>
          <p:cNvSpPr/>
          <p:nvPr/>
        </p:nvSpPr>
        <p:spPr>
          <a:xfrm>
            <a:off x="1783080" y="4105656"/>
            <a:ext cx="21031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230"/>
              <a:buFont typeface="Arial"/>
              <a:buNone/>
            </a:pPr>
            <a:r>
              <a:rPr b="1" i="0" lang="en-US" sz="123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Informe de pruebas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1" name="Google Shape;461;p11"/>
          <p:cNvSpPr/>
          <p:nvPr/>
        </p:nvSpPr>
        <p:spPr>
          <a:xfrm>
            <a:off x="3931920" y="4096512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Funcionales, integración, E2E, formularios y Lighthouse.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2" name="Google Shape;462;p11"/>
          <p:cNvSpPr/>
          <p:nvPr/>
        </p:nvSpPr>
        <p:spPr>
          <a:xfrm>
            <a:off x="685800" y="4828032"/>
            <a:ext cx="5577840" cy="640080"/>
          </a:xfrm>
          <a:prstGeom prst="roundRect">
            <a:avLst>
              <a:gd fmla="val 7143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11"/>
          <p:cNvSpPr/>
          <p:nvPr/>
        </p:nvSpPr>
        <p:spPr>
          <a:xfrm>
            <a:off x="868680" y="4983480"/>
            <a:ext cx="777240" cy="310896"/>
          </a:xfrm>
          <a:prstGeom prst="roundRect">
            <a:avLst>
              <a:gd fmla="val 35294" name="adj"/>
            </a:avLst>
          </a:prstGeom>
          <a:solidFill>
            <a:srgbClr val="F5F7FA"/>
          </a:solidFill>
          <a:ln cap="flat" cmpd="sng" w="12700">
            <a:solidFill>
              <a:srgbClr val="F5F7F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1"/>
          <p:cNvSpPr/>
          <p:nvPr/>
        </p:nvSpPr>
        <p:spPr>
          <a:xfrm>
            <a:off x="941832" y="5047488"/>
            <a:ext cx="630936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B134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F2B134"/>
                </a:solidFill>
                <a:latin typeface="Arial"/>
                <a:ea typeface="Arial"/>
                <a:cs typeface="Arial"/>
                <a:sym typeface="Arial"/>
              </a:rPr>
              <a:t>Final</a:t>
            </a:r>
            <a:endParaRPr b="0" i="0" sz="9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5" name="Google Shape;465;p11"/>
          <p:cNvSpPr/>
          <p:nvPr/>
        </p:nvSpPr>
        <p:spPr>
          <a:xfrm>
            <a:off x="1783080" y="4946904"/>
            <a:ext cx="2103120" cy="2103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230"/>
              <a:buFont typeface="Arial"/>
              <a:buNone/>
            </a:pPr>
            <a:r>
              <a:rPr b="1" i="0" lang="en-US" sz="123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Manual de usuario e integración</a:t>
            </a:r>
            <a:endParaRPr b="0" i="0" sz="12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11"/>
          <p:cNvSpPr/>
          <p:nvPr/>
        </p:nvSpPr>
        <p:spPr>
          <a:xfrm>
            <a:off x="3931920" y="4937760"/>
            <a:ext cx="20574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980"/>
              <a:buFont typeface="Arial"/>
              <a:buNone/>
            </a:pPr>
            <a:r>
              <a:rPr b="0" i="0" lang="en-US" sz="98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Uso por rol y configuración del entorno cliente.</a:t>
            </a:r>
            <a:endParaRPr b="0" i="0" sz="9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7" name="Google Shape;467;p11"/>
          <p:cNvSpPr/>
          <p:nvPr/>
        </p:nvSpPr>
        <p:spPr>
          <a:xfrm>
            <a:off x="6629400" y="1463040"/>
            <a:ext cx="4434840" cy="4023360"/>
          </a:xfrm>
          <a:prstGeom prst="roundRect">
            <a:avLst>
              <a:gd fmla="val 1818" name="adj"/>
            </a:avLst>
          </a:prstGeom>
          <a:solidFill>
            <a:srgbClr val="EEF4FA"/>
          </a:solidFill>
          <a:ln cap="flat" cmpd="sng" w="12700">
            <a:solidFill>
              <a:srgbClr val="CCDCE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1"/>
          <p:cNvSpPr/>
          <p:nvPr/>
        </p:nvSpPr>
        <p:spPr>
          <a:xfrm>
            <a:off x="6903720" y="1737360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8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rgbClr val="1F4E78"/>
                </a:solidFill>
                <a:latin typeface="Arial"/>
                <a:ea typeface="Arial"/>
                <a:cs typeface="Arial"/>
                <a:sym typeface="Arial"/>
              </a:rPr>
              <a:t>Criterios de aceptación mínimos</a:t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9" name="Google Shape;469;p11"/>
          <p:cNvSpPr/>
          <p:nvPr/>
        </p:nvSpPr>
        <p:spPr>
          <a:xfrm>
            <a:off x="6903720" y="2359152"/>
            <a:ext cx="73152" cy="73152"/>
          </a:xfrm>
          <a:prstGeom prst="ellipse">
            <a:avLst/>
          </a:prstGeom>
          <a:solidFill>
            <a:srgbClr val="2F75B5"/>
          </a:solidFill>
          <a:ln cap="flat" cmpd="sng" w="12700">
            <a:solidFill>
              <a:srgbClr val="2F75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p11"/>
          <p:cNvSpPr/>
          <p:nvPr/>
        </p:nvSpPr>
        <p:spPr>
          <a:xfrm>
            <a:off x="7059168" y="2286000"/>
            <a:ext cx="35021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Navegación y módulos acordes al rol.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1"/>
          <p:cNvSpPr/>
          <p:nvPr/>
        </p:nvSpPr>
        <p:spPr>
          <a:xfrm>
            <a:off x="6903720" y="2834640"/>
            <a:ext cx="73152" cy="73152"/>
          </a:xfrm>
          <a:prstGeom prst="ellipse">
            <a:avLst/>
          </a:prstGeom>
          <a:solidFill>
            <a:srgbClr val="2F75B5"/>
          </a:solidFill>
          <a:ln cap="flat" cmpd="sng" w="12700">
            <a:solidFill>
              <a:srgbClr val="2F75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2" name="Google Shape;472;p11"/>
          <p:cNvSpPr/>
          <p:nvPr/>
        </p:nvSpPr>
        <p:spPr>
          <a:xfrm>
            <a:off x="7059168" y="2761488"/>
            <a:ext cx="35021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Estados de carga, error y vacío correctamente representados.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1"/>
          <p:cNvSpPr/>
          <p:nvPr/>
        </p:nvSpPr>
        <p:spPr>
          <a:xfrm>
            <a:off x="6903720" y="3310128"/>
            <a:ext cx="73152" cy="73152"/>
          </a:xfrm>
          <a:prstGeom prst="ellipse">
            <a:avLst/>
          </a:prstGeom>
          <a:solidFill>
            <a:srgbClr val="2F75B5"/>
          </a:solidFill>
          <a:ln cap="flat" cmpd="sng" w="12700">
            <a:solidFill>
              <a:srgbClr val="2F75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11"/>
          <p:cNvSpPr/>
          <p:nvPr/>
        </p:nvSpPr>
        <p:spPr>
          <a:xfrm>
            <a:off x="7059168" y="3236976"/>
            <a:ext cx="35021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Formularios validados y acciones sensibles confirmadas.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1"/>
          <p:cNvSpPr/>
          <p:nvPr/>
        </p:nvSpPr>
        <p:spPr>
          <a:xfrm>
            <a:off x="6903720" y="3785616"/>
            <a:ext cx="73152" cy="73152"/>
          </a:xfrm>
          <a:prstGeom prst="ellipse">
            <a:avLst/>
          </a:prstGeom>
          <a:solidFill>
            <a:srgbClr val="2F75B5"/>
          </a:solidFill>
          <a:ln cap="flat" cmpd="sng" w="12700">
            <a:solidFill>
              <a:srgbClr val="2F75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6" name="Google Shape;476;p11"/>
          <p:cNvSpPr/>
          <p:nvPr/>
        </p:nvSpPr>
        <p:spPr>
          <a:xfrm>
            <a:off x="7059168" y="3712464"/>
            <a:ext cx="35021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Integración con API sin secretos en cliente.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1"/>
          <p:cNvSpPr/>
          <p:nvPr/>
        </p:nvSpPr>
        <p:spPr>
          <a:xfrm>
            <a:off x="6903720" y="4261104"/>
            <a:ext cx="73152" cy="73152"/>
          </a:xfrm>
          <a:prstGeom prst="ellipse">
            <a:avLst/>
          </a:prstGeom>
          <a:solidFill>
            <a:srgbClr val="C94C4C"/>
          </a:solidFill>
          <a:ln cap="flat" cmpd="sng" w="12700">
            <a:solidFill>
              <a:srgbClr val="C9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11"/>
          <p:cNvSpPr/>
          <p:nvPr/>
        </p:nvSpPr>
        <p:spPr>
          <a:xfrm>
            <a:off x="7059168" y="4187952"/>
            <a:ext cx="35021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Pruebas principales ejecutadas sin fallos críticos.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1"/>
          <p:cNvSpPr/>
          <p:nvPr/>
        </p:nvSpPr>
        <p:spPr>
          <a:xfrm>
            <a:off x="6903720" y="4736592"/>
            <a:ext cx="73152" cy="73152"/>
          </a:xfrm>
          <a:prstGeom prst="ellipse">
            <a:avLst/>
          </a:prstGeom>
          <a:solidFill>
            <a:srgbClr val="2F75B5"/>
          </a:solidFill>
          <a:ln cap="flat" cmpd="sng" w="12700">
            <a:solidFill>
              <a:srgbClr val="2F75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1"/>
          <p:cNvSpPr/>
          <p:nvPr/>
        </p:nvSpPr>
        <p:spPr>
          <a:xfrm>
            <a:off x="7059168" y="4663440"/>
            <a:ext cx="350215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Diseño responsivo e interfaz consistente.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1"/>
          <p:cNvSpPr/>
          <p:nvPr/>
        </p:nvSpPr>
        <p:spPr>
          <a:xfrm>
            <a:off x="6903720" y="5056632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La aceptación final se basa en comportamiento observable, no en cantidad de componentes o líneas de código.</a:t>
            </a:r>
            <a:endParaRPr b="0" i="0" sz="10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1"/>
          <p:cNvSpPr txBox="1"/>
          <p:nvPr>
            <p:ph idx="4294967295" type="sldNum"/>
          </p:nvPr>
        </p:nvSpPr>
        <p:spPr>
          <a:xfrm>
            <a:off x="11384280" y="651052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B879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12"/>
          <p:cNvSpPr/>
          <p:nvPr/>
        </p:nvSpPr>
        <p:spPr>
          <a:xfrm>
            <a:off x="566928" y="594360"/>
            <a:ext cx="109728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2700"/>
              <a:buFont typeface="Play"/>
              <a:buNone/>
            </a:pPr>
            <a:r>
              <a:rPr b="1" i="0" lang="en-US" sz="2700" u="none" cap="none" strike="noStrike">
                <a:solidFill>
                  <a:srgbClr val="17324D"/>
                </a:solidFill>
                <a:latin typeface="Play"/>
                <a:ea typeface="Play"/>
                <a:cs typeface="Play"/>
                <a:sym typeface="Play"/>
              </a:rPr>
              <a:t>Riesgos iniciales y plan de Kick Off</a:t>
            </a:r>
            <a:endParaRPr b="0" i="0" sz="27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9" name="Google Shape;489;p12"/>
          <p:cNvSpPr/>
          <p:nvPr/>
        </p:nvSpPr>
        <p:spPr>
          <a:xfrm>
            <a:off x="585216" y="1069848"/>
            <a:ext cx="107899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rgbClr val="6B7280"/>
                </a:solidFill>
                <a:latin typeface="Arial"/>
                <a:ea typeface="Arial"/>
                <a:cs typeface="Arial"/>
                <a:sym typeface="Arial"/>
              </a:rPr>
              <a:t>Empezar bien significa reducir incertidumbre antes de que se convierta en retrabajo.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0" name="Google Shape;490;p12"/>
          <p:cNvSpPr/>
          <p:nvPr/>
        </p:nvSpPr>
        <p:spPr>
          <a:xfrm>
            <a:off x="713232" y="1417320"/>
            <a:ext cx="4892040" cy="603504"/>
          </a:xfrm>
          <a:prstGeom prst="roundRect">
            <a:avLst>
              <a:gd fmla="val 7576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12"/>
          <p:cNvSpPr/>
          <p:nvPr/>
        </p:nvSpPr>
        <p:spPr>
          <a:xfrm>
            <a:off x="896112" y="1563624"/>
            <a:ext cx="256032" cy="256032"/>
          </a:xfrm>
          <a:prstGeom prst="ellipse">
            <a:avLst/>
          </a:prstGeom>
          <a:solidFill>
            <a:srgbClr val="C94C4C"/>
          </a:solidFill>
          <a:ln cap="flat" cmpd="sng" w="12700">
            <a:solidFill>
              <a:srgbClr val="C94C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12"/>
          <p:cNvSpPr/>
          <p:nvPr/>
        </p:nvSpPr>
        <p:spPr>
          <a:xfrm>
            <a:off x="1325880" y="1517904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170"/>
              <a:buFont typeface="Arial"/>
              <a:buNone/>
            </a:pPr>
            <a:r>
              <a:rPr b="1" i="0" lang="en-US" sz="117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Cambios o retrasos en API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3" name="Google Shape;493;p12"/>
          <p:cNvSpPr/>
          <p:nvPr/>
        </p:nvSpPr>
        <p:spPr>
          <a:xfrm>
            <a:off x="2971800" y="1508760"/>
            <a:ext cx="2331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989"/>
              <a:buFont typeface="Arial"/>
              <a:buNone/>
            </a:pPr>
            <a:r>
              <a:rPr b="0" i="0" lang="en-US" sz="99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Acordar contrato temprano + mocks versionados.</a:t>
            </a:r>
            <a:endParaRPr b="0" i="0" sz="9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12"/>
          <p:cNvSpPr/>
          <p:nvPr/>
        </p:nvSpPr>
        <p:spPr>
          <a:xfrm>
            <a:off x="713232" y="2240280"/>
            <a:ext cx="4892040" cy="603504"/>
          </a:xfrm>
          <a:prstGeom prst="roundRect">
            <a:avLst>
              <a:gd fmla="val 7576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2"/>
          <p:cNvSpPr/>
          <p:nvPr/>
        </p:nvSpPr>
        <p:spPr>
          <a:xfrm>
            <a:off x="896112" y="2386584"/>
            <a:ext cx="256032" cy="256032"/>
          </a:xfrm>
          <a:prstGeom prst="ellipse">
            <a:avLst/>
          </a:prstGeom>
          <a:solidFill>
            <a:srgbClr val="6C63A8"/>
          </a:solidFill>
          <a:ln cap="flat" cmpd="sng" w="12700">
            <a:solidFill>
              <a:srgbClr val="6C63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2"/>
          <p:cNvSpPr/>
          <p:nvPr/>
        </p:nvSpPr>
        <p:spPr>
          <a:xfrm>
            <a:off x="1325880" y="2340864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170"/>
              <a:buFont typeface="Arial"/>
              <a:buNone/>
            </a:pPr>
            <a:r>
              <a:rPr b="1" i="0" lang="en-US" sz="117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Permisos/RBAC ambiguos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7" name="Google Shape;497;p12"/>
          <p:cNvSpPr/>
          <p:nvPr/>
        </p:nvSpPr>
        <p:spPr>
          <a:xfrm>
            <a:off x="2971800" y="2331720"/>
            <a:ext cx="2331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989"/>
              <a:buFont typeface="Arial"/>
              <a:buNone/>
            </a:pPr>
            <a:r>
              <a:rPr b="0" i="0" lang="en-US" sz="99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Matriz rol → módulo → acción y validación Backend.</a:t>
            </a:r>
            <a:endParaRPr b="0" i="0" sz="9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8" name="Google Shape;498;p12"/>
          <p:cNvSpPr/>
          <p:nvPr/>
        </p:nvSpPr>
        <p:spPr>
          <a:xfrm>
            <a:off x="713232" y="3063240"/>
            <a:ext cx="4892040" cy="603504"/>
          </a:xfrm>
          <a:prstGeom prst="roundRect">
            <a:avLst>
              <a:gd fmla="val 7576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2"/>
          <p:cNvSpPr/>
          <p:nvPr/>
        </p:nvSpPr>
        <p:spPr>
          <a:xfrm>
            <a:off x="896112" y="3209544"/>
            <a:ext cx="256032" cy="256032"/>
          </a:xfrm>
          <a:prstGeom prst="ellipse">
            <a:avLst/>
          </a:prstGeom>
          <a:solidFill>
            <a:srgbClr val="F2B134"/>
          </a:solidFill>
          <a:ln cap="flat" cmpd="sng" w="12700">
            <a:solidFill>
              <a:srgbClr val="F2B13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p12"/>
          <p:cNvSpPr/>
          <p:nvPr/>
        </p:nvSpPr>
        <p:spPr>
          <a:xfrm>
            <a:off x="1325880" y="3163824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170"/>
              <a:buFont typeface="Arial"/>
              <a:buNone/>
            </a:pPr>
            <a:r>
              <a:rPr b="1" i="0" lang="en-US" sz="117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Alcance excesivo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1" name="Google Shape;501;p12"/>
          <p:cNvSpPr/>
          <p:nvPr/>
        </p:nvSpPr>
        <p:spPr>
          <a:xfrm>
            <a:off x="2971800" y="3154680"/>
            <a:ext cx="2331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989"/>
              <a:buFont typeface="Arial"/>
              <a:buNone/>
            </a:pPr>
            <a:r>
              <a:rPr b="0" i="0" lang="en-US" sz="99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Priorizar funcionalidades críticas y cerrar módulos por sprint.</a:t>
            </a:r>
            <a:endParaRPr b="0" i="0" sz="9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2" name="Google Shape;502;p12"/>
          <p:cNvSpPr/>
          <p:nvPr/>
        </p:nvSpPr>
        <p:spPr>
          <a:xfrm>
            <a:off x="713232" y="3886200"/>
            <a:ext cx="4892040" cy="603504"/>
          </a:xfrm>
          <a:prstGeom prst="roundRect">
            <a:avLst>
              <a:gd fmla="val 7576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12"/>
          <p:cNvSpPr/>
          <p:nvPr/>
        </p:nvSpPr>
        <p:spPr>
          <a:xfrm>
            <a:off x="896112" y="4032504"/>
            <a:ext cx="256032" cy="256032"/>
          </a:xfrm>
          <a:prstGeom prst="ellipse">
            <a:avLst/>
          </a:prstGeom>
          <a:solidFill>
            <a:srgbClr val="2F75B5"/>
          </a:solidFill>
          <a:ln cap="flat" cmpd="sng" w="12700">
            <a:solidFill>
              <a:srgbClr val="2F75B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4" name="Google Shape;504;p12"/>
          <p:cNvSpPr/>
          <p:nvPr/>
        </p:nvSpPr>
        <p:spPr>
          <a:xfrm>
            <a:off x="1325880" y="3986784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170"/>
              <a:buFont typeface="Arial"/>
              <a:buNone/>
            </a:pPr>
            <a:r>
              <a:rPr b="1" i="0" lang="en-US" sz="117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Inconsistencia UI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5" name="Google Shape;505;p12"/>
          <p:cNvSpPr/>
          <p:nvPr/>
        </p:nvSpPr>
        <p:spPr>
          <a:xfrm>
            <a:off x="2971800" y="3977640"/>
            <a:ext cx="2331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989"/>
              <a:buFont typeface="Arial"/>
              <a:buNone/>
            </a:pPr>
            <a:r>
              <a:rPr b="0" i="0" lang="en-US" sz="99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Sistema de componentes y revisión UX desde S2.</a:t>
            </a:r>
            <a:endParaRPr b="0" i="0" sz="9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6" name="Google Shape;506;p12"/>
          <p:cNvSpPr/>
          <p:nvPr/>
        </p:nvSpPr>
        <p:spPr>
          <a:xfrm>
            <a:off x="713232" y="4709160"/>
            <a:ext cx="4892040" cy="603504"/>
          </a:xfrm>
          <a:prstGeom prst="roundRect">
            <a:avLst>
              <a:gd fmla="val 7576" name="adj"/>
            </a:avLst>
          </a:prstGeom>
          <a:solidFill>
            <a:srgbClr val="FFFFFF"/>
          </a:solidFill>
          <a:ln cap="flat" cmpd="sng" w="12700">
            <a:solidFill>
              <a:srgbClr val="D9E2E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12"/>
          <p:cNvSpPr/>
          <p:nvPr/>
        </p:nvSpPr>
        <p:spPr>
          <a:xfrm>
            <a:off x="896112" y="4855464"/>
            <a:ext cx="256032" cy="256032"/>
          </a:xfrm>
          <a:prstGeom prst="ellipse">
            <a:avLst/>
          </a:prstGeom>
          <a:solidFill>
            <a:srgbClr val="2E8B57"/>
          </a:solidFill>
          <a:ln cap="flat" cmpd="sng" w="12700">
            <a:solidFill>
              <a:srgbClr val="2E8B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12"/>
          <p:cNvSpPr/>
          <p:nvPr/>
        </p:nvSpPr>
        <p:spPr>
          <a:xfrm>
            <a:off x="1325880" y="4809744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7324D"/>
              </a:buClr>
              <a:buSzPts val="1170"/>
              <a:buFont typeface="Arial"/>
              <a:buNone/>
            </a:pPr>
            <a:r>
              <a:rPr b="1" i="0" lang="en-US" sz="1170" u="none" cap="none" strike="noStrike">
                <a:solidFill>
                  <a:srgbClr val="17324D"/>
                </a:solidFill>
                <a:latin typeface="Arial"/>
                <a:ea typeface="Arial"/>
                <a:cs typeface="Arial"/>
                <a:sym typeface="Arial"/>
              </a:rPr>
              <a:t>Pruebas tardías</a:t>
            </a:r>
            <a:endParaRPr b="0" i="0" sz="117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2"/>
          <p:cNvSpPr/>
          <p:nvPr/>
        </p:nvSpPr>
        <p:spPr>
          <a:xfrm>
            <a:off x="2971800" y="4800600"/>
            <a:ext cx="233172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989"/>
              <a:buFont typeface="Arial"/>
              <a:buNone/>
            </a:pPr>
            <a:r>
              <a:rPr b="0" i="0" lang="en-US" sz="99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Automatizar smoke/E2E progresivamente, no al final.</a:t>
            </a:r>
            <a:endParaRPr b="0" i="0" sz="99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2"/>
          <p:cNvSpPr/>
          <p:nvPr/>
        </p:nvSpPr>
        <p:spPr>
          <a:xfrm>
            <a:off x="5989320" y="1417320"/>
            <a:ext cx="4754880" cy="4251960"/>
          </a:xfrm>
          <a:prstGeom prst="roundRect">
            <a:avLst>
              <a:gd fmla="val 1720" name="adj"/>
            </a:avLst>
          </a:prstGeom>
          <a:solidFill>
            <a:srgbClr val="1F4E78"/>
          </a:solidFill>
          <a:ln cap="flat" cmpd="sng" w="12700">
            <a:solidFill>
              <a:srgbClr val="1F4E7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12"/>
          <p:cNvSpPr/>
          <p:nvPr/>
        </p:nvSpPr>
        <p:spPr>
          <a:xfrm>
            <a:off x="6309360" y="1737360"/>
            <a:ext cx="40233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Acciones del puntapié inicial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2"/>
          <p:cNvSpPr/>
          <p:nvPr/>
        </p:nvSpPr>
        <p:spPr>
          <a:xfrm>
            <a:off x="6327648" y="2286000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134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2B134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2"/>
          <p:cNvSpPr/>
          <p:nvPr/>
        </p:nvSpPr>
        <p:spPr>
          <a:xfrm>
            <a:off x="6766560" y="2286000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Validar alcance y nombres de los 8 módulos.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2"/>
          <p:cNvSpPr/>
          <p:nvPr/>
        </p:nvSpPr>
        <p:spPr>
          <a:xfrm>
            <a:off x="6327648" y="2715768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134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2B134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2"/>
          <p:cNvSpPr/>
          <p:nvPr/>
        </p:nvSpPr>
        <p:spPr>
          <a:xfrm>
            <a:off x="6766560" y="271576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Definir matriz de roles y permisos.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2"/>
          <p:cNvSpPr/>
          <p:nvPr/>
        </p:nvSpPr>
        <p:spPr>
          <a:xfrm>
            <a:off x="6327648" y="3145536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134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2B134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2"/>
          <p:cNvSpPr/>
          <p:nvPr/>
        </p:nvSpPr>
        <p:spPr>
          <a:xfrm>
            <a:off x="6766560" y="3145536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Crear backlog inicial con criterios de aceptación.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2"/>
          <p:cNvSpPr/>
          <p:nvPr/>
        </p:nvSpPr>
        <p:spPr>
          <a:xfrm>
            <a:off x="6327648" y="3575304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134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2B134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2"/>
          <p:cNvSpPr/>
          <p:nvPr/>
        </p:nvSpPr>
        <p:spPr>
          <a:xfrm>
            <a:off x="6766560" y="3575304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Acordar contrato API y respuestas de error.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2"/>
          <p:cNvSpPr/>
          <p:nvPr/>
        </p:nvSpPr>
        <p:spPr>
          <a:xfrm>
            <a:off x="6327648" y="4005072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134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2B134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2"/>
          <p:cNvSpPr/>
          <p:nvPr/>
        </p:nvSpPr>
        <p:spPr>
          <a:xfrm>
            <a:off x="6766560" y="4005072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Preparar repositorio, ramas, PR y convenciones.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2"/>
          <p:cNvSpPr/>
          <p:nvPr/>
        </p:nvSpPr>
        <p:spPr>
          <a:xfrm>
            <a:off x="6327648" y="4434840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134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2B134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2"/>
          <p:cNvSpPr/>
          <p:nvPr/>
        </p:nvSpPr>
        <p:spPr>
          <a:xfrm>
            <a:off x="6766560" y="4434840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Construir wireframes y sistema visual base.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2"/>
          <p:cNvSpPr/>
          <p:nvPr/>
        </p:nvSpPr>
        <p:spPr>
          <a:xfrm>
            <a:off x="6327648" y="4864608"/>
            <a:ext cx="34747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B134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F2B134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 b="0" i="0" sz="1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2"/>
          <p:cNvSpPr/>
          <p:nvPr/>
        </p:nvSpPr>
        <p:spPr>
          <a:xfrm>
            <a:off x="6766560" y="4864608"/>
            <a:ext cx="3566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Arial"/>
              <a:buNone/>
            </a:pPr>
            <a:r>
              <a:rPr b="0" i="0" lang="en-US" sz="108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Cerrar Sprint 1 con demo y riesgos actualizados.</a:t>
            </a:r>
            <a:endParaRPr b="0" i="0" sz="108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6" name="Google Shape;526;p12"/>
          <p:cNvSpPr/>
          <p:nvPr/>
        </p:nvSpPr>
        <p:spPr>
          <a:xfrm>
            <a:off x="713232" y="5806440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4E78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rgbClr val="1F4E78"/>
                </a:solidFill>
                <a:latin typeface="Arial"/>
                <a:ea typeface="Arial"/>
                <a:cs typeface="Arial"/>
                <a:sym typeface="Arial"/>
              </a:rPr>
              <a:t>Resultado del Kick Off</a:t>
            </a:r>
            <a:endParaRPr b="0" i="0" sz="125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7" name="Google Shape;527;p12"/>
          <p:cNvSpPr/>
          <p:nvPr/>
        </p:nvSpPr>
        <p:spPr>
          <a:xfrm>
            <a:off x="2377440" y="5779008"/>
            <a:ext cx="84124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34E68"/>
              </a:buClr>
              <a:buSzPts val="1130"/>
              <a:buFont typeface="Arial"/>
              <a:buNone/>
            </a:pPr>
            <a:r>
              <a:rPr b="0" i="0" lang="en-US" sz="1130" u="none" cap="none" strike="noStrike">
                <a:solidFill>
                  <a:srgbClr val="334E68"/>
                </a:solidFill>
                <a:latin typeface="Arial"/>
                <a:ea typeface="Arial"/>
                <a:cs typeface="Arial"/>
                <a:sym typeface="Arial"/>
              </a:rPr>
              <a:t>Equipo alineado en qué construir, cómo construirlo, quién responde por cada frente, cuándo se entrega y cómo sabremos que está terminado.</a:t>
            </a:r>
            <a:endParaRPr b="0" i="0" sz="113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8" name="Google Shape;528;p12"/>
          <p:cNvSpPr txBox="1"/>
          <p:nvPr>
            <p:ph idx="4294967295" type="sldNum"/>
          </p:nvPr>
        </p:nvSpPr>
        <p:spPr>
          <a:xfrm>
            <a:off x="11384280" y="6510528"/>
            <a:ext cx="2743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800" u="none" cap="none" strike="noStrike">
                <a:solidFill>
                  <a:srgbClr val="7B8794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B8794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2026-09-08T01:52:29Z</dcterms:created>
  <dc:creator>Equipo Aprueba Administración</dc:creator>
</cp:coreProperties>
</file>