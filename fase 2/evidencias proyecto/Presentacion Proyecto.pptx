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pNRhR2Z3t2dHy8lTEdxvv5sOH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Ignacio: Nuestro proyecto corresponde a Aprueba Administración y nuestro equipo está encargado específicamente del frontend de la consola administrativa. En esta presentación nos enfocaremos en la ingeniería de la solución: metodología, arquitectura, tecnologías, modelo de datos, seguridad y despliegue.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Fernando: La plataforma del estudiante genera información de usuarios, preguntas, suscripciones y actividad. El equipo de negocio necesita una herramienta separada para administrar todo esto. Nuestro alcance no fue desarrollar la aplicación del estudiante, sino la SPA administrativa desde donde se centralizan estas operaciones.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Ignacio: Se eligió Scrum porque el proyecto podía dividirse en incrementos funcionales semanales. Esto permitió trabajar módulo por módulo y validar avances continuamente. No utilizamos cascada porque existían dependencias entre frontend y backend. Cuando el backend no estaba disponible, el modo demo permitió seguir validando los flujos del frontend.</a:t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Fernando: La arquitectura separa claramente responsabilidades. React se encarga de presentación y navegación. Node y Express centralizan la lógica de negocio y exponen la API. Firestore almacena los datos y Firebase Admin SDK permite que el acceso se realice desde el servidor. Para seguridad se definieron JWT, MFA y control por roles.</a:t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Ignacio: La principal decisión de arquitectura es desacoplar completamente la interfaz del acceso a datos. La SPA no accede directamente a Firestore; las operaciones pasan por la API administrativa, donde se aplican autenticación, permisos y reglas de negocio. La API mantiene un contrato uniforme usando data, error y meta.</a:t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Fernando: En el nivel de contexto de C4 no mostramos frameworks; mostramos actores y sistemas. El actor principal es el usuario administrativo. Aprueba Administración consume información producida por la plataforma principal y se relaciona con Stripe para aspectos asociados a planes y precios.</a:t>
            </a:r>
            <a:endParaRPr/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Ignacio: C4 nivel 2 baja desde el sistema general hacia los principales contenedores. La aplicación no es un bloque monolítico: tenemos una SPA, un backend REST, la persistencia documental y servicios externos. No conectamos React directamente a Firestore porque las operaciones administrativas requieren reglas, roles, auditoría y validaciones centralizadas.</a:t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Fernando: Como Firestore es documental, el diseño se orienta a los patrones de consulta de la consola y no a joins relacionales. Organizamos la explicación por dominios: seguridad, usuarios y soporte, contenido y negocio. El modelo incluye índices, denormalización controlada, auditoría y políticas de retención para ciertos registros.</a:t>
            </a:r>
            <a:endParaRPr/>
          </a:p>
        </p:txBody>
      </p:sp>
      <p:sp>
        <p:nvSpPr>
          <p:cNvPr id="287" name="Google Shape;2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Ignacio: El modelo 4+1 nos permite analizar la solución desde diferentes perspectivas. La vista lógica representa los dominios; desarrollo, cómo organizamos el software; procesos, los flujos en ejecución; física, dónde viven los componentes; y el +1 usa escenarios reales para validar que todo funcione de manera coherente.</a:t>
            </a:r>
            <a:endParaRPr/>
          </a:p>
        </p:txBody>
      </p:sp>
      <p:sp>
        <p:nvSpPr>
          <p:cNvPr id="355" name="Google Shape;3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Fernando: La seguridad se aplica por capas. Primero autenticación, luego segundo factor, después un JWT con información del usuario y finalmente RBAC. Esto permite que funciones financieras queden restringidas a finanzas o administración y que acciones operativas puedan reservarse al rol de operaciones. Las acciones sensibles deben quedar auditadas.</a:t>
            </a:r>
            <a:endParaRPr/>
          </a:p>
        </p:txBody>
      </p:sp>
      <p:sp>
        <p:nvSpPr>
          <p:cNvPr id="387" name="Google Shape;3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Ignacio: Nuestro principal resultado es un MVP frontend completamente navegable y desplegado, que permitió validar la experiencia administrativa incluso antes de disponer de todos los servicios backend. Fernando: Desde la perspectiva de ingeniería, el proyecto no se limita a construir interfaces: la solución fue pensada con separación de responsabilidades, contrato de API, seguridad por roles, modelo documental, metodología incremental y una arquitectura preparada para integración.</a:t>
            </a:r>
            <a:endParaRPr/>
          </a:p>
        </p:txBody>
      </p:sp>
      <p:sp>
        <p:nvSpPr>
          <p:cNvPr id="446" name="Google Shape;4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4"/>
          <p:cNvCxnSpPr/>
          <p:nvPr/>
        </p:nvCxnSpPr>
        <p:spPr>
          <a:xfrm>
            <a:off x="530352" y="292608"/>
            <a:ext cx="54864" cy="292608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14"/>
          <p:cNvSpPr/>
          <p:nvPr/>
        </p:nvSpPr>
        <p:spPr>
          <a:xfrm>
            <a:off x="685800" y="24688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APRUEBA ADMINISTRACIÓN · CAPSTONE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14"/>
          <p:cNvSpPr/>
          <p:nvPr/>
        </p:nvSpPr>
        <p:spPr>
          <a:xfrm>
            <a:off x="9893808" y="246888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Duoc UC · 2026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" name="Google Shape;16;p14"/>
          <p:cNvCxnSpPr/>
          <p:nvPr/>
        </p:nvCxnSpPr>
        <p:spPr>
          <a:xfrm>
            <a:off x="530352" y="6501384"/>
            <a:ext cx="11128248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977640" y="0"/>
            <a:ext cx="146304" cy="6858000"/>
          </a:xfrm>
          <a:prstGeom prst="rect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 rot="-5400000">
            <a:off x="658368" y="694944"/>
            <a:ext cx="357530" cy="525780"/>
          </a:xfrm>
          <a:prstGeom prst="chevron">
            <a:avLst>
              <a:gd fmla="val 50000" name="adj"/>
            </a:avLst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 rot="5400000">
            <a:off x="837133" y="779069"/>
            <a:ext cx="241859" cy="357530"/>
          </a:xfrm>
          <a:prstGeom prst="chevron">
            <a:avLst>
              <a:gd fmla="val 50000" name="adj"/>
            </a:avLst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205179" y="779069"/>
            <a:ext cx="1892808" cy="36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Aprueba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76656" y="1828800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INGENIERÍA DEL</a:t>
            </a:r>
            <a:endParaRPr b="0" i="0" sz="2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</a:t>
            </a:r>
            <a:endParaRPr b="0" i="0" sz="2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94944" y="3026664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2EC"/>
              </a:buClr>
              <a:buSzPts val="1120"/>
              <a:buFont typeface="Inter"/>
              <a:buNone/>
            </a:pPr>
            <a:r>
              <a:rPr b="0" i="0" lang="en-US" sz="1120" u="none" cap="none" strike="noStrike">
                <a:solidFill>
                  <a:srgbClr val="D7E2EC"/>
                </a:solidFill>
                <a:latin typeface="Inter"/>
                <a:ea typeface="Inter"/>
                <a:cs typeface="Inter"/>
                <a:sym typeface="Inter"/>
              </a:rPr>
              <a:t>Arquitectura · Scrum · Datos · Seguridad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709160" y="132588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100"/>
              <a:buFont typeface="Inter"/>
              <a:buNone/>
            </a:pPr>
            <a:r>
              <a:rPr b="1" i="0" lang="en-US" sz="31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Aprueba Administración</a:t>
            </a:r>
            <a:endParaRPr b="0" i="0" sz="3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736592" y="199339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Administración del negocio · Frontend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736592" y="2505456"/>
            <a:ext cx="1572768" cy="256032"/>
          </a:xfrm>
          <a:prstGeom prst="roundRect">
            <a:avLst>
              <a:gd fmla="val 50000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4809744" y="2555748"/>
            <a:ext cx="14264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PROYECTO CAPSTONE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736592" y="293522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Ingeniería en Informática · Duoc UC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736592" y="437083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Ignacio Catalán  ·  Fernando Casanueva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736592" y="479145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" name="Google Shape;38;p1"/>
          <p:cNvCxnSpPr/>
          <p:nvPr/>
        </p:nvCxnSpPr>
        <p:spPr>
          <a:xfrm>
            <a:off x="4736592" y="5532120"/>
            <a:ext cx="6172200" cy="0"/>
          </a:xfrm>
          <a:prstGeom prst="straightConnector1">
            <a:avLst/>
          </a:prstGeom>
          <a:noFill/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Problema, objetivo y alcance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Qué necesidad resuelve la consola administrativa y dónde se ubica nuestro equipo.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1627632"/>
            <a:ext cx="3474720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40080" y="1627632"/>
            <a:ext cx="64008" cy="10789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04672" y="177393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04672" y="207568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Aprueba necesita una consola centralizada para monitorear y administrar procesos de negocio, operación, soporte y contenido.</a:t>
            </a:r>
            <a:endParaRPr b="0" i="0" sz="9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370832" y="1627632"/>
            <a:ext cx="3474720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370832" y="1627632"/>
            <a:ext cx="64008" cy="107899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35424" y="177393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35424" y="207568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Desarrollar una SPA administrativa segura, modular y preparada para integrarse con los servicios backend.</a:t>
            </a:r>
            <a:endParaRPr b="0" i="0" sz="9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101584" y="1627632"/>
            <a:ext cx="3474720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101584" y="1627632"/>
            <a:ext cx="64008" cy="1078992"/>
          </a:xfrm>
          <a:prstGeom prst="rect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266176" y="177393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Alcance Frontend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266176" y="207568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Construir la experiencia de administración; no la app del alumno ni la lógica de persistencia.</a:t>
            </a:r>
            <a:endParaRPr b="0" i="0" sz="9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67512" y="305409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Módulos cubiertos por la consola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58368" y="3493008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68096" y="36393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Resumen / KPIs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520440" y="3493008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630168" y="36393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382512" y="3493008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492240" y="36393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Sponsors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244584" y="3493008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9354312" y="36393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Operativa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58368" y="4242816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68096" y="43891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Usuarios y soporte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520440" y="4242816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3630168" y="43891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Tutores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382512" y="4242816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92240" y="43891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244584" y="4242816"/>
            <a:ext cx="2249424" cy="530352"/>
          </a:xfrm>
          <a:prstGeom prst="roundRect">
            <a:avLst>
              <a:gd fmla="val 17241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9354312" y="43891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Planes y productos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" name="Google Shape;75;p2"/>
          <p:cNvCxnSpPr/>
          <p:nvPr/>
        </p:nvCxnSpPr>
        <p:spPr>
          <a:xfrm>
            <a:off x="1417320" y="5431536"/>
            <a:ext cx="9345168" cy="0"/>
          </a:xfrm>
          <a:prstGeom prst="straightConnector1">
            <a:avLst/>
          </a:prstGeom>
          <a:noFill/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2"/>
          <p:cNvSpPr/>
          <p:nvPr/>
        </p:nvSpPr>
        <p:spPr>
          <a:xfrm>
            <a:off x="658368" y="565099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Valor de ingeniería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084832" y="5632704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10"/>
              <a:buFont typeface="Inter"/>
              <a:buNone/>
            </a:pPr>
            <a:r>
              <a:rPr b="0" i="0" lang="en-US" sz="101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Centralizar operaciones, separar responsabilidades y preparar una integración segura con el backend.</a:t>
            </a:r>
            <a:endParaRPr b="0" i="0" sz="10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Enfoque metodológico: Scrum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Iteraciones semanales con incrementos funcionales y capacidad estimada por rol.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58368" y="1691640"/>
            <a:ext cx="1938528" cy="896112"/>
          </a:xfrm>
          <a:prstGeom prst="roundRect">
            <a:avLst>
              <a:gd fmla="val 14286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68096" y="1901952"/>
            <a:ext cx="17190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Product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Backlog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2633472" y="2139696"/>
            <a:ext cx="356616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p3"/>
          <p:cNvSpPr/>
          <p:nvPr/>
        </p:nvSpPr>
        <p:spPr>
          <a:xfrm>
            <a:off x="2990088" y="1691640"/>
            <a:ext cx="1938528" cy="896112"/>
          </a:xfrm>
          <a:prstGeom prst="roundRect">
            <a:avLst>
              <a:gd fmla="val 14286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099816" y="1901952"/>
            <a:ext cx="17190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Sprint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Planning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4965192" y="2139696"/>
            <a:ext cx="356616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3"/>
          <p:cNvSpPr/>
          <p:nvPr/>
        </p:nvSpPr>
        <p:spPr>
          <a:xfrm>
            <a:off x="5321808" y="1691640"/>
            <a:ext cx="1938528" cy="896112"/>
          </a:xfrm>
          <a:prstGeom prst="roundRect">
            <a:avLst>
              <a:gd fmla="val 14286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31536" y="1901952"/>
            <a:ext cx="17190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Sprint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semanal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7296912" y="2139696"/>
            <a:ext cx="356616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3"/>
          <p:cNvSpPr/>
          <p:nvPr/>
        </p:nvSpPr>
        <p:spPr>
          <a:xfrm>
            <a:off x="7653528" y="1691640"/>
            <a:ext cx="1938528" cy="896112"/>
          </a:xfrm>
          <a:prstGeom prst="roundRect">
            <a:avLst>
              <a:gd fmla="val 14286" name="adj"/>
            </a:avLst>
          </a:prstGeom>
          <a:solidFill>
            <a:srgbClr val="EAFBF5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7763256" y="1901952"/>
            <a:ext cx="17190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y pruebas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9628632" y="2139696"/>
            <a:ext cx="356616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p3"/>
          <p:cNvSpPr/>
          <p:nvPr/>
        </p:nvSpPr>
        <p:spPr>
          <a:xfrm>
            <a:off x="9985248" y="1691640"/>
            <a:ext cx="1938528" cy="896112"/>
          </a:xfrm>
          <a:prstGeom prst="roundRect">
            <a:avLst>
              <a:gd fmla="val 14286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0094976" y="1901952"/>
            <a:ext cx="17190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Revisión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e incremento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58368" y="2953512"/>
            <a:ext cx="109728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68680" y="3099816"/>
            <a:ext cx="14447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68680" y="331927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sprints</a:t>
            </a:r>
            <a:endParaRPr b="0" i="0" sz="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2587752" y="3099816"/>
            <a:ext cx="0" cy="365760"/>
          </a:xfrm>
          <a:prstGeom prst="straightConnector1">
            <a:avLst/>
          </a:prstGeom>
          <a:noFill/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/>
          <p:nvPr/>
        </p:nvSpPr>
        <p:spPr>
          <a:xfrm>
            <a:off x="3593592" y="3099816"/>
            <a:ext cx="14447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 semana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593592" y="331927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por sprint</a:t>
            </a:r>
            <a:endParaRPr b="0" i="0" sz="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5312664" y="3099816"/>
            <a:ext cx="0" cy="365760"/>
          </a:xfrm>
          <a:prstGeom prst="straightConnector1">
            <a:avLst/>
          </a:prstGeom>
          <a:noFill/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/>
          <p:nvPr/>
        </p:nvSpPr>
        <p:spPr>
          <a:xfrm>
            <a:off x="6318504" y="3099816"/>
            <a:ext cx="14447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 FE + 1 BE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318504" y="331927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equipo</a:t>
            </a:r>
            <a:endParaRPr b="0" i="0" sz="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8037576" y="3099816"/>
            <a:ext cx="0" cy="365760"/>
          </a:xfrm>
          <a:prstGeom prst="straightConnector1">
            <a:avLst/>
          </a:prstGeom>
          <a:noFill/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9043416" y="3099816"/>
            <a:ext cx="14447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~8 SP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043416" y="331927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por dev/sprint</a:t>
            </a:r>
            <a:endParaRPr b="0" i="0" sz="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67512" y="39136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Roadmap de ingeniería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76656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76656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13232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Cimientos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755648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1755648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792224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Auth/MFA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834640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834640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871216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Resumen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913632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913632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950208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992624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992624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S5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029200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Sponsors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071616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071616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S6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108192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Operativa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150608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7150608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S7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7187184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Usuarios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229600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8229600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S8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8266176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9308592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9308592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S9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9345168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Planes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10387584" y="4343400"/>
            <a:ext cx="1033272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10387584" y="4443984"/>
            <a:ext cx="16459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S10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10424160" y="46908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QA/Deploy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58368" y="5404104"/>
            <a:ext cx="10972800" cy="594360"/>
          </a:xfrm>
          <a:prstGeom prst="roundRect">
            <a:avLst>
              <a:gd fmla="val 15385" name="adj"/>
            </a:avLst>
          </a:prstGeom>
          <a:solidFill>
            <a:srgbClr val="FFF7E8"/>
          </a:solidFill>
          <a:ln cap="flat" cmpd="sng" w="10150">
            <a:solidFill>
              <a:srgbClr val="F1D5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877824" y="557784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Por qué Scrum: permitió avanzar por módulos y adaptarnos a la dependencia del backend sin detener el frontend.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3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Capas separadas según responsabilidad técnica.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58368" y="1572768"/>
            <a:ext cx="260604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822960" y="1737360"/>
            <a:ext cx="347472" cy="34747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1271016" y="1700784"/>
            <a:ext cx="1847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271016" y="1929384"/>
            <a:ext cx="18470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React 18 · Vite · React Router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822960" y="2340864"/>
            <a:ext cx="227685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SPA administrativa, navegación, i18n ES/EN, tema claro/oscuro.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410712" y="1572768"/>
            <a:ext cx="260604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3575304" y="1737360"/>
            <a:ext cx="347472" cy="347472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023360" y="1700784"/>
            <a:ext cx="1847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023360" y="1929384"/>
            <a:ext cx="18470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Node.js · Express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575304" y="2340864"/>
            <a:ext cx="227685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API REST, lógica administrativa, validaciones y control de acceso.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163056" y="1572768"/>
            <a:ext cx="260604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6327648" y="1737360"/>
            <a:ext cx="347472" cy="34747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775704" y="1700784"/>
            <a:ext cx="1847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775704" y="1929384"/>
            <a:ext cx="18470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Firebase Admin SDK · Firestore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327648" y="2340864"/>
            <a:ext cx="227685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Persistencia documental y acceso desde servidor.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8915400" y="1572768"/>
            <a:ext cx="260604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9079992" y="1737360"/>
            <a:ext cx="347472" cy="347472"/>
          </a:xfrm>
          <a:prstGeom prst="ellipse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9528048" y="1700784"/>
            <a:ext cx="1847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Seguridad / integración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9528048" y="1929384"/>
            <a:ext cx="18470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JWT · MFA · RBAC · Stripe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079992" y="2340864"/>
            <a:ext cx="227685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Autenticación, autorización por rol y sincronización de precios.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67512" y="38587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Soporte al desarrollo y despliegue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67512" y="4279392"/>
            <a:ext cx="1737360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740664" y="4329684"/>
            <a:ext cx="15910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724912" y="4279392"/>
            <a:ext cx="1737360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2798064" y="4329684"/>
            <a:ext cx="15910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782312" y="4279392"/>
            <a:ext cx="1737360" cy="256032"/>
          </a:xfrm>
          <a:prstGeom prst="roundRect">
            <a:avLst>
              <a:gd fmla="val 50000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855464" y="4329684"/>
            <a:ext cx="15910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839712" y="4279392"/>
            <a:ext cx="1737360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6912864" y="4329684"/>
            <a:ext cx="15910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Variables de entorno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58368" y="4873752"/>
            <a:ext cx="10972800" cy="850392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850392" y="505663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40"/>
              <a:buFont typeface="Inter"/>
              <a:buNone/>
            </a:pPr>
            <a:r>
              <a:rPr b="1" i="0" lang="en-US" sz="104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Principio de diseño</a:t>
            </a:r>
            <a:endParaRPr b="0" i="0" sz="10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2304288" y="49834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interfaz se ocupa de presentación y experiencia; las reglas críticas, autorización y acceso a datos permanecen en el backend.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4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Arquitectura general de la solución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Separación de responsabilidades y comunicación mediante API REST versionada.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31520" y="1847088"/>
            <a:ext cx="18288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886968" y="2020824"/>
            <a:ext cx="1517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ADMINISTRADOR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>
            <a:off x="2587752" y="2221992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5"/>
          <p:cNvSpPr/>
          <p:nvPr/>
        </p:nvSpPr>
        <p:spPr>
          <a:xfrm>
            <a:off x="3163824" y="1527048"/>
            <a:ext cx="2414016" cy="1389888"/>
          </a:xfrm>
          <a:prstGeom prst="roundRect">
            <a:avLst>
              <a:gd fmla="val 9211" name="adj"/>
            </a:avLst>
          </a:prstGeom>
          <a:solidFill>
            <a:srgbClr val="EEF4F9"/>
          </a:solidFill>
          <a:ln cap="flat" cmpd="sng" w="10150">
            <a:solidFill>
              <a:srgbClr val="B9CFD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401568" y="1773936"/>
            <a:ext cx="19385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SPA Administración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429000" y="2057400"/>
            <a:ext cx="18928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Inter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React 18 · Vite</a:t>
            </a:r>
            <a:endParaRPr b="0" i="0" sz="9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Inter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React Router</a:t>
            </a:r>
            <a:endParaRPr b="0" i="0" sz="9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9" name="Google Shape;199;p5"/>
          <p:cNvCxnSpPr/>
          <p:nvPr/>
        </p:nvCxnSpPr>
        <p:spPr>
          <a:xfrm>
            <a:off x="5596128" y="2221992"/>
            <a:ext cx="685800" cy="0"/>
          </a:xfrm>
          <a:prstGeom prst="straightConnector1">
            <a:avLst/>
          </a:prstGeom>
          <a:noFill/>
          <a:ln cap="flat" cmpd="sng" w="27925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5"/>
          <p:cNvSpPr/>
          <p:nvPr/>
        </p:nvSpPr>
        <p:spPr>
          <a:xfrm>
            <a:off x="5605272" y="162763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REST / JSON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40"/>
              <a:buFont typeface="Inter"/>
              <a:buNone/>
            </a:pPr>
            <a:r>
              <a:rPr b="1" i="0" lang="en-US" sz="74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/api/v1/admin</a:t>
            </a:r>
            <a:endParaRPr b="0" i="0" sz="7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318504" y="1527048"/>
            <a:ext cx="2423160" cy="1389888"/>
          </a:xfrm>
          <a:prstGeom prst="roundRect">
            <a:avLst>
              <a:gd fmla="val 9211" name="adj"/>
            </a:avLst>
          </a:prstGeom>
          <a:solidFill>
            <a:srgbClr val="FFF7E8"/>
          </a:solidFill>
          <a:ln cap="flat" cmpd="sng" w="10150">
            <a:solidFill>
              <a:srgbClr val="E7C98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565392" y="1773936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API Administrativa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556248" y="2057400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Inter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Node.js · Express</a:t>
            </a:r>
            <a:endParaRPr b="0" i="0" sz="9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Inter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JWT · RBAC · MFA</a:t>
            </a:r>
            <a:endParaRPr b="0" i="0" sz="9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4" name="Google Shape;204;p5"/>
          <p:cNvCxnSpPr/>
          <p:nvPr/>
        </p:nvCxnSpPr>
        <p:spPr>
          <a:xfrm>
            <a:off x="7525512" y="2926080"/>
            <a:ext cx="0" cy="749808"/>
          </a:xfrm>
          <a:prstGeom prst="straightConnector1">
            <a:avLst/>
          </a:prstGeom>
          <a:noFill/>
          <a:ln cap="flat" cmpd="sng" w="215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5"/>
          <p:cNvSpPr/>
          <p:nvPr/>
        </p:nvSpPr>
        <p:spPr>
          <a:xfrm>
            <a:off x="5961888" y="3730752"/>
            <a:ext cx="2578608" cy="1078992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6236208" y="3968496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Cloud Firestore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190488" y="4251960"/>
            <a:ext cx="2103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usuarios · preguntas · tickets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planes · métricas · auditoría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8" name="Google Shape;208;p5"/>
          <p:cNvCxnSpPr/>
          <p:nvPr/>
        </p:nvCxnSpPr>
        <p:spPr>
          <a:xfrm>
            <a:off x="8759952" y="2221992"/>
            <a:ext cx="594360" cy="0"/>
          </a:xfrm>
          <a:prstGeom prst="straightConnector1">
            <a:avLst/>
          </a:prstGeom>
          <a:noFill/>
          <a:ln cap="flat" cmpd="sng" w="215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5"/>
          <p:cNvSpPr/>
          <p:nvPr/>
        </p:nvSpPr>
        <p:spPr>
          <a:xfrm>
            <a:off x="9400032" y="1755648"/>
            <a:ext cx="1737360" cy="932688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9710928" y="1975104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Stripe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9619488" y="226771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precios / planes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31525" y="3712476"/>
            <a:ext cx="4316100" cy="15363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731520" y="3712464"/>
            <a:ext cx="4315968" cy="347472"/>
          </a:xfrm>
          <a:prstGeom prst="rect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59536" y="3785616"/>
            <a:ext cx="40599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ARQUITECTÓNICAS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900684" y="4256532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1042416" y="4215384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Frontend y backend desacoplados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900684" y="4530852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1042416" y="4489704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API versionada bajo /api/v1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900684" y="4805172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1042416" y="4764024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Acceso a datos centralizado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900684" y="5079492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1042416" y="5038344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Envelope {data, error, meta}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726970" y="5402032"/>
            <a:ext cx="10424100" cy="493800"/>
          </a:xfrm>
          <a:prstGeom prst="roundRect">
            <a:avLst>
              <a:gd fmla="val 18519" name="adj"/>
            </a:avLst>
          </a:prstGeom>
          <a:solidFill>
            <a:srgbClr val="EAFBF5"/>
          </a:solidFill>
          <a:ln cap="flat" cmpd="sng" w="10150">
            <a:solidFill>
              <a:srgbClr val="C8EF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928138" y="5557480"/>
            <a:ext cx="1001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Resultado: el frontend puede evolucionar sin acoplarse a la implementación interna de persistencia.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5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C4 · Nivel 1 — Contexto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Quién usa Aprueba Administración y con qué sistemas externos se relaciona.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749808" y="2340864"/>
            <a:ext cx="2057400" cy="932688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969264" y="2551176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Administrador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941832" y="2816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gerencia · finanzas</a:t>
            </a:r>
            <a:endParaRPr b="0" i="0" sz="7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operaciones · soporte</a:t>
            </a:r>
            <a:endParaRPr b="0" i="0" sz="7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6" name="Google Shape;236;p6"/>
          <p:cNvCxnSpPr/>
          <p:nvPr/>
        </p:nvCxnSpPr>
        <p:spPr>
          <a:xfrm>
            <a:off x="2816352" y="2798064"/>
            <a:ext cx="996696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6"/>
          <p:cNvSpPr/>
          <p:nvPr/>
        </p:nvSpPr>
        <p:spPr>
          <a:xfrm>
            <a:off x="3858768" y="1938528"/>
            <a:ext cx="3730752" cy="1719072"/>
          </a:xfrm>
          <a:prstGeom prst="roundRect">
            <a:avLst>
              <a:gd fmla="val 7979" name="adj"/>
            </a:avLst>
          </a:prstGeom>
          <a:solidFill>
            <a:srgbClr val="EEF4F9"/>
          </a:solidFill>
          <a:ln cap="flat" cmpd="sng" w="10150">
            <a:solidFill>
              <a:srgbClr val="B9CFD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279392" y="230428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Aprueba Administración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352544" y="272491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Consola de negocio y operaciones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873752" y="3145536"/>
            <a:ext cx="1664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041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F5B041"/>
                </a:solidFill>
                <a:latin typeface="Inter"/>
                <a:ea typeface="Inter"/>
                <a:cs typeface="Inter"/>
                <a:sym typeface="Inter"/>
              </a:rPr>
              <a:t>Sistema bajo análisis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1" name="Google Shape;241;p6"/>
          <p:cNvCxnSpPr/>
          <p:nvPr/>
        </p:nvCxnSpPr>
        <p:spPr>
          <a:xfrm flipH="1" rot="10800000">
            <a:off x="7616952" y="1993392"/>
            <a:ext cx="841248" cy="475488"/>
          </a:xfrm>
          <a:prstGeom prst="straightConnector1">
            <a:avLst/>
          </a:prstGeom>
          <a:noFill/>
          <a:ln cap="flat" cmpd="sng" w="228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6"/>
          <p:cNvCxnSpPr/>
          <p:nvPr/>
        </p:nvCxnSpPr>
        <p:spPr>
          <a:xfrm>
            <a:off x="7616952" y="3127248"/>
            <a:ext cx="841248" cy="640080"/>
          </a:xfrm>
          <a:prstGeom prst="straightConnector1">
            <a:avLst/>
          </a:prstGeom>
          <a:noFill/>
          <a:ln cap="flat" cmpd="sng" w="228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6"/>
          <p:cNvSpPr/>
          <p:nvPr/>
        </p:nvSpPr>
        <p:spPr>
          <a:xfrm>
            <a:off x="8513064" y="1417320"/>
            <a:ext cx="2487168" cy="1115568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8814816" y="166420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Plataforma Aprueba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8769096" y="195681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datos de alumnos, respuestas,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medallas y suscripciones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8513064" y="3273552"/>
            <a:ext cx="2487168" cy="1115568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9153144" y="3547872"/>
            <a:ext cx="122529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Stripe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8805672" y="3849624"/>
            <a:ext cx="1901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Inter"/>
              <a:buNone/>
            </a:pPr>
            <a:r>
              <a:rPr b="0" i="0" lang="en-US" sz="84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precios y suscripciones</a:t>
            </a:r>
            <a:endParaRPr b="0" i="0" sz="8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2432304" y="4681728"/>
            <a:ext cx="7269480" cy="82296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2679192" y="4946904"/>
            <a:ext cx="678484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0"/>
              <a:buFont typeface="Inter"/>
              <a:buNone/>
            </a:pPr>
            <a:r>
              <a:rPr b="1" i="0" lang="en-US" sz="102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C4 nivel 1 = personas + sistemas, sin entrar todavía en frameworks o componentes internos.</a:t>
            </a:r>
            <a:endParaRPr b="0" i="0" sz="10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6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C4 · Nivel 2 — Contenedores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Principales unidades ejecutables y sus responsabilidades.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94944" y="2249424"/>
            <a:ext cx="1682496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896112" y="24871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70"/>
              <a:buFont typeface="Inter"/>
              <a:buNone/>
            </a:pPr>
            <a:r>
              <a:rPr b="1" i="0" lang="en-US" sz="107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Administrador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1" name="Google Shape;261;p7"/>
          <p:cNvCxnSpPr/>
          <p:nvPr/>
        </p:nvCxnSpPr>
        <p:spPr>
          <a:xfrm>
            <a:off x="2395728" y="2596896"/>
            <a:ext cx="557784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" name="Google Shape;262;p7"/>
          <p:cNvSpPr/>
          <p:nvPr/>
        </p:nvSpPr>
        <p:spPr>
          <a:xfrm>
            <a:off x="2990088" y="1700784"/>
            <a:ext cx="2176272" cy="1700784"/>
          </a:xfrm>
          <a:prstGeom prst="roundRect">
            <a:avLst>
              <a:gd fmla="val 7527" name="adj"/>
            </a:avLst>
          </a:prstGeom>
          <a:solidFill>
            <a:srgbClr val="EEF4F9"/>
          </a:solidFill>
          <a:ln cap="flat" cmpd="sng" w="10150">
            <a:solidFill>
              <a:srgbClr val="B9CFD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3355848" y="1938528"/>
            <a:ext cx="14447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SPA Web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337560" y="2258568"/>
            <a:ext cx="1481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React 18 + Vite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React Router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255264" y="285292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70"/>
              <a:buFont typeface="Inter"/>
              <a:buNone/>
            </a:pPr>
            <a:r>
              <a:rPr b="0" i="0" lang="en-US" sz="7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· navegación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70"/>
              <a:buFont typeface="Inter"/>
              <a:buNone/>
            </a:pPr>
            <a:r>
              <a:rPr b="0" i="0" lang="en-US" sz="7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formularios · gráficos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6" name="Google Shape;266;p7"/>
          <p:cNvCxnSpPr/>
          <p:nvPr/>
        </p:nvCxnSpPr>
        <p:spPr>
          <a:xfrm>
            <a:off x="5193792" y="2596896"/>
            <a:ext cx="676656" cy="0"/>
          </a:xfrm>
          <a:prstGeom prst="straightConnector1">
            <a:avLst/>
          </a:prstGeom>
          <a:noFill/>
          <a:ln cap="flat" cmpd="sng" w="25400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7"/>
          <p:cNvSpPr/>
          <p:nvPr/>
        </p:nvSpPr>
        <p:spPr>
          <a:xfrm>
            <a:off x="5239512" y="226771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HTTPS / REST</a:t>
            </a:r>
            <a:endParaRPr b="0" i="0" sz="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907024" y="1700784"/>
            <a:ext cx="2176272" cy="1700784"/>
          </a:xfrm>
          <a:prstGeom prst="roundRect">
            <a:avLst>
              <a:gd fmla="val 7527" name="adj"/>
            </a:avLst>
          </a:prstGeom>
          <a:solidFill>
            <a:srgbClr val="FFF7E8"/>
          </a:solidFill>
          <a:ln cap="flat" cmpd="sng" w="10150">
            <a:solidFill>
              <a:srgbClr val="E7C98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6236208" y="1938528"/>
            <a:ext cx="1527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Backend Admin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199632" y="2267712"/>
            <a:ext cx="16184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Node.js + Express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163056" y="2852928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70"/>
              <a:buFont typeface="Inter"/>
              <a:buNone/>
            </a:pPr>
            <a:r>
              <a:rPr b="0" i="0" lang="en-US" sz="7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Negocio · RBAC · auditoría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70"/>
              <a:buFont typeface="Inter"/>
              <a:buNone/>
            </a:pPr>
            <a:r>
              <a:rPr b="0" i="0" lang="en-US" sz="7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validación · agregación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2" name="Google Shape;272;p7"/>
          <p:cNvCxnSpPr/>
          <p:nvPr/>
        </p:nvCxnSpPr>
        <p:spPr>
          <a:xfrm>
            <a:off x="6995160" y="3429000"/>
            <a:ext cx="0" cy="612648"/>
          </a:xfrm>
          <a:prstGeom prst="straightConnector1">
            <a:avLst/>
          </a:prstGeom>
          <a:noFill/>
          <a:ln cap="flat" cmpd="sng" w="203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7"/>
          <p:cNvSpPr/>
          <p:nvPr/>
        </p:nvSpPr>
        <p:spPr>
          <a:xfrm>
            <a:off x="5769864" y="4096512"/>
            <a:ext cx="2441448" cy="1024128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089904" y="4334256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Cloud Firestore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089904" y="4654296"/>
            <a:ext cx="18196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Persistencia documental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6" name="Google Shape;276;p7"/>
          <p:cNvCxnSpPr/>
          <p:nvPr/>
        </p:nvCxnSpPr>
        <p:spPr>
          <a:xfrm>
            <a:off x="8110728" y="2596896"/>
            <a:ext cx="740664" cy="0"/>
          </a:xfrm>
          <a:prstGeom prst="straightConnector1">
            <a:avLst/>
          </a:prstGeom>
          <a:noFill/>
          <a:ln cap="flat" cmpd="sng" w="203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7"/>
          <p:cNvSpPr/>
          <p:nvPr/>
        </p:nvSpPr>
        <p:spPr>
          <a:xfrm>
            <a:off x="8887968" y="1984248"/>
            <a:ext cx="2048256" cy="1197864"/>
          </a:xfrm>
          <a:prstGeom prst="roundRect">
            <a:avLst>
              <a:gd fmla="val 9160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9363456" y="22311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Stripe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125712" y="256032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Precios y suscripciones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713232" y="4087368"/>
            <a:ext cx="4343400" cy="1097280"/>
          </a:xfrm>
          <a:prstGeom prst="roundRect">
            <a:avLst>
              <a:gd fmla="val 10000" name="adj"/>
            </a:avLst>
          </a:prstGeom>
          <a:solidFill>
            <a:srgbClr val="EAFBF5"/>
          </a:solidFill>
          <a:ln cap="flat" cmpd="sng" w="10150">
            <a:solidFill>
              <a:srgbClr val="C8EF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905256" y="4279392"/>
            <a:ext cx="1536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Regla de arquitectura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905256" y="4581144"/>
            <a:ext cx="3913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SPA no accede directamente a Firestore; el backend aplica autorización, reglas y trazabilidad.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7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Modelo de datos — Firestore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Modelo documental orientado a consultas y a los dominios administrativos.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58368" y="1600200"/>
            <a:ext cx="2331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58368" y="1600200"/>
            <a:ext cx="2331720" cy="109728"/>
          </a:xfrm>
          <a:prstGeom prst="rect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768096" y="1783080"/>
            <a:ext cx="2112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Seguridad y auditoría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68096" y="203911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adminUsers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adminSessions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auditLog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154680" y="1600200"/>
            <a:ext cx="2331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154680" y="1600200"/>
            <a:ext cx="2331720" cy="1097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3264408" y="1783080"/>
            <a:ext cx="2112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Usuarios y soporte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264408" y="203911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users · medalLedger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supportTickets · corrections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650992" y="1600200"/>
            <a:ext cx="2331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5650992" y="1600200"/>
            <a:ext cx="2331720" cy="109728"/>
          </a:xfrm>
          <a:prstGeom prst="rect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760720" y="1783080"/>
            <a:ext cx="2112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760720" y="203911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moderación / recorrecciones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147304" y="1600200"/>
            <a:ext cx="2331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147304" y="1600200"/>
            <a:ext cx="2331720" cy="10972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8257032" y="1783080"/>
            <a:ext cx="2112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endParaRPr b="0" i="0" sz="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8257032" y="203911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sponsors · benefits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plans · features · subscriptions</a:t>
            </a:r>
            <a:endParaRPr b="0" i="0" sz="7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58368" y="2816352"/>
            <a:ext cx="10972800" cy="2487168"/>
          </a:xfrm>
          <a:prstGeom prst="roundRect">
            <a:avLst>
              <a:gd fmla="val 441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932688" y="3246120"/>
            <a:ext cx="1325880" cy="530352"/>
          </a:xfrm>
          <a:prstGeom prst="roundRect">
            <a:avLst>
              <a:gd fmla="val 13793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978408" y="341071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adminUsers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914400" y="4187952"/>
            <a:ext cx="1389888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960120" y="4352544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auditLog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651760" y="4187952"/>
            <a:ext cx="1389888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2697480" y="4352544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adminSessions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959352" y="3246120"/>
            <a:ext cx="1225296" cy="530352"/>
          </a:xfrm>
          <a:prstGeom prst="roundRect">
            <a:avLst>
              <a:gd fmla="val 13793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4005072" y="3410712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730752" y="4187952"/>
            <a:ext cx="1554480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3776472" y="435254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supportTickets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5559552" y="4187952"/>
            <a:ext cx="1389888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605272" y="4352544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corrections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614416" y="3246120"/>
            <a:ext cx="1280160" cy="530352"/>
          </a:xfrm>
          <a:prstGeom prst="roundRect">
            <a:avLst>
              <a:gd fmla="val 13793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5660136" y="341071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7388352" y="3246120"/>
            <a:ext cx="1353312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7434072" y="341071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sponsors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7360920" y="4187952"/>
            <a:ext cx="1417320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7406640" y="4352544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benefits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9162288" y="3246120"/>
            <a:ext cx="1243584" cy="530352"/>
          </a:xfrm>
          <a:prstGeom prst="roundRect">
            <a:avLst>
              <a:gd fmla="val 13793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9208008" y="3410712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plans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8869680" y="4187952"/>
            <a:ext cx="1261872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8915400" y="4352544"/>
            <a:ext cx="11704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10259568" y="4187952"/>
            <a:ext cx="1051560" cy="530352"/>
          </a:xfrm>
          <a:prstGeom prst="roundRect">
            <a:avLst>
              <a:gd fmla="val 13793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10305288" y="4352544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70"/>
              <a:buFont typeface="Inter"/>
              <a:buNone/>
            </a:pPr>
            <a:r>
              <a:rPr b="1" i="0" lang="en-US" sz="7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subscriptions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2" name="Google Shape;332;p8"/>
          <p:cNvCxnSpPr/>
          <p:nvPr/>
        </p:nvCxnSpPr>
        <p:spPr>
          <a:xfrm>
            <a:off x="1600200" y="3776472"/>
            <a:ext cx="0" cy="393192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8"/>
          <p:cNvCxnSpPr/>
          <p:nvPr/>
        </p:nvCxnSpPr>
        <p:spPr>
          <a:xfrm>
            <a:off x="1874520" y="3749040"/>
            <a:ext cx="1371600" cy="411480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8"/>
          <p:cNvCxnSpPr/>
          <p:nvPr/>
        </p:nvCxnSpPr>
        <p:spPr>
          <a:xfrm flipH="1">
            <a:off x="4526280" y="3776472"/>
            <a:ext cx="45720" cy="393192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8"/>
          <p:cNvCxnSpPr/>
          <p:nvPr/>
        </p:nvCxnSpPr>
        <p:spPr>
          <a:xfrm>
            <a:off x="5074920" y="3703320"/>
            <a:ext cx="1097280" cy="457200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" name="Google Shape;336;p8"/>
          <p:cNvCxnSpPr/>
          <p:nvPr/>
        </p:nvCxnSpPr>
        <p:spPr>
          <a:xfrm rot="10800000">
            <a:off x="6254496" y="3794760"/>
            <a:ext cx="0" cy="374904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" name="Google Shape;337;p8"/>
          <p:cNvCxnSpPr/>
          <p:nvPr/>
        </p:nvCxnSpPr>
        <p:spPr>
          <a:xfrm>
            <a:off x="8065008" y="3776472"/>
            <a:ext cx="0" cy="393192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" name="Google Shape;338;p8"/>
          <p:cNvCxnSpPr/>
          <p:nvPr/>
        </p:nvCxnSpPr>
        <p:spPr>
          <a:xfrm flipH="1">
            <a:off x="9491472" y="3776472"/>
            <a:ext cx="292608" cy="393192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" name="Google Shape;339;p8"/>
          <p:cNvCxnSpPr/>
          <p:nvPr/>
        </p:nvCxnSpPr>
        <p:spPr>
          <a:xfrm>
            <a:off x="9921240" y="3721608"/>
            <a:ext cx="804672" cy="429768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0" name="Google Shape;340;p8"/>
          <p:cNvSpPr/>
          <p:nvPr/>
        </p:nvSpPr>
        <p:spPr>
          <a:xfrm>
            <a:off x="768096" y="550468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Principios del modelo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2148840" y="5468112"/>
            <a:ext cx="1591056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2221992" y="5518404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Orientado a consultas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3931920" y="5468112"/>
            <a:ext cx="1591056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005072" y="5518404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Denormalización controlada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5715000" y="5468112"/>
            <a:ext cx="1591056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5788152" y="5518404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Índices compuestos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7498080" y="5468112"/>
            <a:ext cx="1591056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7571232" y="5518404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TTL y retención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9281160" y="5468112"/>
            <a:ext cx="1591056" cy="256032"/>
          </a:xfrm>
          <a:prstGeom prst="roundRect">
            <a:avLst>
              <a:gd fmla="val 50000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9354312" y="5518404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Auditoría de acciones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8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Arquitectura 4+1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Cinco perspectivas complementarias para describir la misma solución.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736592" y="2596896"/>
            <a:ext cx="2697480" cy="960120"/>
          </a:xfrm>
          <a:prstGeom prst="roundRect">
            <a:avLst>
              <a:gd fmla="val 17143" name="adj"/>
            </a:avLst>
          </a:prstGeom>
          <a:solidFill>
            <a:srgbClr val="1A365D"/>
          </a:solidFill>
          <a:ln cap="flat" cmpd="sng" w="1015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5047488" y="2788920"/>
            <a:ext cx="207568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APRUEBA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ADMINISTRACIÓN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86384" y="1371600"/>
            <a:ext cx="2788920" cy="1024128"/>
          </a:xfrm>
          <a:prstGeom prst="roundRect">
            <a:avLst>
              <a:gd fmla="val 10714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914400" y="1527048"/>
            <a:ext cx="2532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Vista lógica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923544" y="1819656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Usuarios · Sponsors · Tickets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Preguntas · Planes · Métricas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4041648" y="1097280"/>
            <a:ext cx="2788920" cy="1024128"/>
          </a:xfrm>
          <a:prstGeom prst="roundRect">
            <a:avLst>
              <a:gd fmla="val 10714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4169664" y="1252728"/>
            <a:ext cx="2532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Vista de desarrollo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178808" y="1545336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React SPA · API Express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módulos · rutas · repositorio Git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8138160" y="1371600"/>
            <a:ext cx="2788920" cy="1024128"/>
          </a:xfrm>
          <a:prstGeom prst="roundRect">
            <a:avLst>
              <a:gd fmla="val 10714" name="adj"/>
            </a:avLst>
          </a:prstGeom>
          <a:solidFill>
            <a:srgbClr val="EAFBF5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8266176" y="1527048"/>
            <a:ext cx="2532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Vista de procesos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8275320" y="1819656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Login/MFA · CRUD · métricas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recorrecciones · auditoría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1307592" y="4334256"/>
            <a:ext cx="2788920" cy="1024128"/>
          </a:xfrm>
          <a:prstGeom prst="roundRect">
            <a:avLst>
              <a:gd fmla="val 10714" name="adj"/>
            </a:avLst>
          </a:prstGeom>
          <a:solidFill>
            <a:srgbClr val="F1F5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1435608" y="4489704"/>
            <a:ext cx="2532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Vista física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444752" y="478231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Navegador · Frontend · API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Firestore · Stripe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7616952" y="4334256"/>
            <a:ext cx="2788920" cy="1024128"/>
          </a:xfrm>
          <a:prstGeom prst="roundRect">
            <a:avLst>
              <a:gd fmla="val 10714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7744968" y="4489704"/>
            <a:ext cx="2532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+1 Escenarios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7754112" y="478231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Suspender usuario · importar JSON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modificar plan · recorrección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6" name="Google Shape;376;p9"/>
          <p:cNvCxnSpPr/>
          <p:nvPr/>
        </p:nvCxnSpPr>
        <p:spPr>
          <a:xfrm>
            <a:off x="4251960" y="1956816"/>
            <a:ext cx="502920" cy="804672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9"/>
          <p:cNvCxnSpPr/>
          <p:nvPr/>
        </p:nvCxnSpPr>
        <p:spPr>
          <a:xfrm>
            <a:off x="5486400" y="2139696"/>
            <a:ext cx="274320" cy="438912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9"/>
          <p:cNvCxnSpPr/>
          <p:nvPr/>
        </p:nvCxnSpPr>
        <p:spPr>
          <a:xfrm flipH="1">
            <a:off x="7342632" y="1956816"/>
            <a:ext cx="749808" cy="85953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9"/>
          <p:cNvCxnSpPr/>
          <p:nvPr/>
        </p:nvCxnSpPr>
        <p:spPr>
          <a:xfrm flipH="1" rot="10800000">
            <a:off x="4041648" y="3575304"/>
            <a:ext cx="758952" cy="117957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p9"/>
          <p:cNvCxnSpPr/>
          <p:nvPr/>
        </p:nvCxnSpPr>
        <p:spPr>
          <a:xfrm rot="10800000">
            <a:off x="7360920" y="3575304"/>
            <a:ext cx="283464" cy="117957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9"/>
          <p:cNvSpPr/>
          <p:nvPr/>
        </p:nvSpPr>
        <p:spPr>
          <a:xfrm>
            <a:off x="3474720" y="5605272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3721608" y="5742432"/>
            <a:ext cx="47183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Inter"/>
              <a:buNone/>
            </a:pPr>
            <a:r>
              <a:rPr b="1" i="0" lang="en-US" sz="92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+1 valida la arquitectura mediante escenarios concretos de uso.</a:t>
            </a:r>
            <a:endParaRPr b="0" i="0" sz="9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9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Despliegue físico y seguridad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Cómo viaja una solicitud y qué controles se aplican antes de ejecutar una acción.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658368" y="152704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Diagrama físico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786384" y="1920240"/>
            <a:ext cx="4041648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987552" y="202996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Navegador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2240280" y="20299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Inter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PC / usuario admin</a:t>
            </a:r>
            <a:endParaRPr b="0" i="0" sz="8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5" name="Google Shape;395;p10"/>
          <p:cNvCxnSpPr/>
          <p:nvPr/>
        </p:nvCxnSpPr>
        <p:spPr>
          <a:xfrm>
            <a:off x="2807208" y="2523744"/>
            <a:ext cx="0" cy="292608"/>
          </a:xfrm>
          <a:prstGeom prst="straightConnector1">
            <a:avLst/>
          </a:prstGeom>
          <a:noFill/>
          <a:ln cap="flat" cmpd="sng" w="21575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6" name="Google Shape;396;p10"/>
          <p:cNvSpPr/>
          <p:nvPr/>
        </p:nvSpPr>
        <p:spPr>
          <a:xfrm>
            <a:off x="786384" y="2834640"/>
            <a:ext cx="4041648" cy="594360"/>
          </a:xfrm>
          <a:prstGeom prst="roundRect">
            <a:avLst>
              <a:gd fmla="val 15385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987552" y="294436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Frontend Web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2240280" y="29443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Inter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SPA React · Vercel</a:t>
            </a:r>
            <a:endParaRPr b="0" i="0" sz="8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9" name="Google Shape;399;p10"/>
          <p:cNvCxnSpPr/>
          <p:nvPr/>
        </p:nvCxnSpPr>
        <p:spPr>
          <a:xfrm>
            <a:off x="2807208" y="3438144"/>
            <a:ext cx="0" cy="292608"/>
          </a:xfrm>
          <a:prstGeom prst="straightConnector1">
            <a:avLst/>
          </a:prstGeom>
          <a:noFill/>
          <a:ln cap="flat" cmpd="sng" w="21575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0" name="Google Shape;400;p10"/>
          <p:cNvSpPr/>
          <p:nvPr/>
        </p:nvSpPr>
        <p:spPr>
          <a:xfrm>
            <a:off x="786384" y="3749040"/>
            <a:ext cx="4041648" cy="594360"/>
          </a:xfrm>
          <a:prstGeom prst="roundRect">
            <a:avLst>
              <a:gd fmla="val 15385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987552" y="385876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API Admin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2240280" y="38587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Inter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Node.js · Express</a:t>
            </a:r>
            <a:endParaRPr b="0" i="0" sz="8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3" name="Google Shape;403;p10"/>
          <p:cNvCxnSpPr/>
          <p:nvPr/>
        </p:nvCxnSpPr>
        <p:spPr>
          <a:xfrm>
            <a:off x="2807208" y="4352544"/>
            <a:ext cx="0" cy="292608"/>
          </a:xfrm>
          <a:prstGeom prst="straightConnector1">
            <a:avLst/>
          </a:prstGeom>
          <a:noFill/>
          <a:ln cap="flat" cmpd="sng" w="21575">
            <a:solidFill>
              <a:srgbClr val="F5B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4" name="Google Shape;404;p10"/>
          <p:cNvSpPr/>
          <p:nvPr/>
        </p:nvSpPr>
        <p:spPr>
          <a:xfrm>
            <a:off x="786384" y="4663440"/>
            <a:ext cx="4041648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987552" y="477316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Datos / servicios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2240280" y="47731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Inter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Firestore · Stripe</a:t>
            </a:r>
            <a:endParaRPr b="0" i="0" sz="8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999232" y="2578608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HTTPS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999232" y="349300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REST/JSON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5760720" y="1527048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Cadena de seguridad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5870448" y="1901952"/>
            <a:ext cx="4983480" cy="603504"/>
          </a:xfrm>
          <a:prstGeom prst="roundRect">
            <a:avLst>
              <a:gd fmla="val 1515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6071616" y="2020824"/>
            <a:ext cx="347472" cy="34747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6163056" y="210312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6583680" y="2066544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Correo + contraseña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4" name="Google Shape;414;p10"/>
          <p:cNvCxnSpPr/>
          <p:nvPr/>
        </p:nvCxnSpPr>
        <p:spPr>
          <a:xfrm>
            <a:off x="8366760" y="2514600"/>
            <a:ext cx="0" cy="246888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5" name="Google Shape;415;p10"/>
          <p:cNvSpPr/>
          <p:nvPr/>
        </p:nvSpPr>
        <p:spPr>
          <a:xfrm>
            <a:off x="5870448" y="2697480"/>
            <a:ext cx="4983480" cy="603504"/>
          </a:xfrm>
          <a:prstGeom prst="roundRect">
            <a:avLst>
              <a:gd fmla="val 15152" name="adj"/>
            </a:avLst>
          </a:prstGeom>
          <a:solidFill>
            <a:srgbClr val="FFF7E8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071616" y="2816352"/>
            <a:ext cx="347472" cy="34747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6163056" y="2898648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6583680" y="286207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MFA / OTP-TOTP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9" name="Google Shape;419;p10"/>
          <p:cNvCxnSpPr/>
          <p:nvPr/>
        </p:nvCxnSpPr>
        <p:spPr>
          <a:xfrm>
            <a:off x="8366760" y="3310128"/>
            <a:ext cx="0" cy="246888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0" name="Google Shape;420;p10"/>
          <p:cNvSpPr/>
          <p:nvPr/>
        </p:nvSpPr>
        <p:spPr>
          <a:xfrm>
            <a:off x="5870448" y="3493008"/>
            <a:ext cx="4983480" cy="603504"/>
          </a:xfrm>
          <a:prstGeom prst="roundRect">
            <a:avLst>
              <a:gd fmla="val 15152" name="adj"/>
            </a:avLst>
          </a:prstGeom>
          <a:solidFill>
            <a:srgbClr val="EEF4F9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6071616" y="3611880"/>
            <a:ext cx="347472" cy="34747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163056" y="3694176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6583680" y="365760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JWT con claims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4" name="Google Shape;424;p10"/>
          <p:cNvCxnSpPr/>
          <p:nvPr/>
        </p:nvCxnSpPr>
        <p:spPr>
          <a:xfrm>
            <a:off x="8366760" y="4105656"/>
            <a:ext cx="0" cy="246888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5" name="Google Shape;425;p10"/>
          <p:cNvSpPr/>
          <p:nvPr/>
        </p:nvSpPr>
        <p:spPr>
          <a:xfrm>
            <a:off x="5870448" y="4288536"/>
            <a:ext cx="4983480" cy="603504"/>
          </a:xfrm>
          <a:prstGeom prst="roundRect">
            <a:avLst>
              <a:gd fmla="val 15152" name="adj"/>
            </a:avLst>
          </a:prstGeom>
          <a:solidFill>
            <a:srgbClr val="EAFBF5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6071616" y="4407408"/>
            <a:ext cx="347472" cy="347472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6163056" y="4489704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583680" y="44531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RBAC por rol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9" name="Google Shape;429;p10"/>
          <p:cNvCxnSpPr/>
          <p:nvPr/>
        </p:nvCxnSpPr>
        <p:spPr>
          <a:xfrm>
            <a:off x="8366760" y="4901184"/>
            <a:ext cx="0" cy="246888"/>
          </a:xfrm>
          <a:prstGeom prst="straightConnector1">
            <a:avLst/>
          </a:prstGeom>
          <a:noFill/>
          <a:ln cap="flat" cmpd="sng" w="139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p10"/>
          <p:cNvSpPr/>
          <p:nvPr/>
        </p:nvSpPr>
        <p:spPr>
          <a:xfrm>
            <a:off x="5870448" y="5084064"/>
            <a:ext cx="4983480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6071616" y="5202936"/>
            <a:ext cx="347472" cy="34747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6163056" y="528523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6583680" y="5248656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Endpoint autorizado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5888736" y="562356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EEF4F9"/>
          </a:solidFill>
          <a:ln cap="flat" cmpd="sng" w="12700">
            <a:solidFill>
              <a:srgbClr val="EEF4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5961888" y="5673852"/>
            <a:ext cx="9052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admin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7077456" y="562356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7150608" y="5673852"/>
            <a:ext cx="9052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finance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8266176" y="562356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EAFBF5"/>
          </a:solidFill>
          <a:ln cap="flat" cmpd="sng" w="12700">
            <a:solidFill>
              <a:srgbClr val="EAFB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8339328" y="5673852"/>
            <a:ext cx="9052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ops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9454896" y="562356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9528048" y="5673852"/>
            <a:ext cx="9052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support</a:t>
            </a:r>
            <a:endParaRPr b="0" i="0" sz="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10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"/>
          <p:cNvSpPr/>
          <p:nvPr/>
        </p:nvSpPr>
        <p:spPr>
          <a:xfrm>
            <a:off x="594360" y="6766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Estado actual y próximos pasos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12648" y="113385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Qué está validado hoy y cómo evoluciona hacia la integración completa.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58368" y="1508760"/>
            <a:ext cx="3246120" cy="3493008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658368" y="1508760"/>
            <a:ext cx="3246120" cy="34747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786384" y="1581912"/>
            <a:ext cx="2990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ESTADO ACTUAL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827532" y="2052828"/>
            <a:ext cx="64008" cy="640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969264" y="201168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MVP Frontend funcional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827532" y="2327148"/>
            <a:ext cx="64008" cy="640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969264" y="228600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8 vistas administrativas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827532" y="2601468"/>
            <a:ext cx="64008" cy="640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969264" y="256032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Flujos principales navegables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827532" y="2875788"/>
            <a:ext cx="64008" cy="640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969264" y="283464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Build de producción validado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827532" y="3150108"/>
            <a:ext cx="64008" cy="640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969264" y="310896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Git + GitHub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827532" y="3424428"/>
            <a:ext cx="64008" cy="640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969264" y="338328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Despliegue en Vercel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4169664" y="1508760"/>
            <a:ext cx="3246120" cy="3493008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4169664" y="1508760"/>
            <a:ext cx="3246120" cy="347472"/>
          </a:xfrm>
          <a:prstGeom prst="rect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4297680" y="1581912"/>
            <a:ext cx="2990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DE INGENIERÍA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4338828" y="2052828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4480560" y="201168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Separación Frontend / Backend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4338828" y="2327148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4480560" y="228600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API REST versionada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4338828" y="2601468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4480560" y="256032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Modo demo desacoplado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4338828" y="2875788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4480560" y="283464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Arquitectura modular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338828" y="3150108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4480560" y="310896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RBAC + MFA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4338828" y="3424428"/>
            <a:ext cx="64008" cy="64008"/>
          </a:xfrm>
          <a:prstGeom prst="ellipse">
            <a:avLst/>
          </a:prstGeom>
          <a:solidFill>
            <a:srgbClr val="1A365D"/>
          </a:solidFill>
          <a:ln cap="flat" cmpd="sng" w="127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4480560" y="338328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Firestore como modelo documental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7680960" y="1508760"/>
            <a:ext cx="3246120" cy="3493008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0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AB7C4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7680960" y="1508760"/>
            <a:ext cx="3246120" cy="347472"/>
          </a:xfrm>
          <a:prstGeom prst="rect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7808976" y="1581912"/>
            <a:ext cx="29900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7850124" y="2052828"/>
            <a:ext cx="64008" cy="64008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7991856" y="201168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Integración completa con backend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7850124" y="2327148"/>
            <a:ext cx="64008" cy="64008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7991856" y="228600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Persistencia real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7850124" y="2601468"/>
            <a:ext cx="64008" cy="64008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991856" y="256032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Pruebas de integración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7850124" y="2875788"/>
            <a:ext cx="64008" cy="64008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7991856" y="283464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Refactorización y mantenibilidad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7850124" y="3150108"/>
            <a:ext cx="64008" cy="64008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7991856" y="310896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QA de seguridad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7850124" y="3424428"/>
            <a:ext cx="64008" cy="64008"/>
          </a:xfrm>
          <a:prstGeom prst="ellipse">
            <a:avLst/>
          </a:prstGeom>
          <a:solidFill>
            <a:srgbClr val="F5B041"/>
          </a:solidFill>
          <a:ln cap="flat" cmpd="sng" w="1270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7991856" y="3383280"/>
            <a:ext cx="28163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Observabilidad y despliegue</a:t>
            </a:r>
            <a:endParaRPr b="0" i="0" sz="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658368" y="5285232"/>
            <a:ext cx="10277856" cy="585216"/>
          </a:xfrm>
          <a:prstGeom prst="roundRect">
            <a:avLst>
              <a:gd fmla="val 18750" name="adj"/>
            </a:avLst>
          </a:prstGeom>
          <a:solidFill>
            <a:srgbClr val="1A365D"/>
          </a:solidFill>
          <a:ln cap="flat" cmpd="sng" w="1015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932688" y="5468112"/>
            <a:ext cx="97109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Aprueba Administración transforma procesos de negocio en una solución centralizada, segura y escalable.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676656" y="5980176"/>
            <a:ext cx="38404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MVP: aprueba-admin-flax.vercel.app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11"/>
          <p:cNvSpPr txBox="1"/>
          <p:nvPr>
            <p:ph idx="4294967295" type="sldNum"/>
          </p:nvPr>
        </p:nvSpPr>
        <p:spPr>
          <a:xfrm>
            <a:off x="11475720" y="65379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2026-10-20T22:26:56Z</dcterms:created>
  <dc:creator>Ignacio Catalán y Fernando Casanueva</dc:creator>
</cp:coreProperties>
</file>